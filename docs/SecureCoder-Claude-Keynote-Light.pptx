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600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50" kern="0" dirty="0">
                <a:solidFill>
                  <a:srgbClr val="C05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ATHENE MISSION PROJECT  ·  TU DARMSTADT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SecureCoder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85800" y="324612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6B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Security-aware code generation,
</a:t>
            </a:r>
            <a:pPr indent="0" marL="0">
              <a:buNone/>
            </a:pPr>
            <a:r>
              <a:rPr lang="en-US" sz="2100" b="1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agent loop.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85800" y="4343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452360" y="1965960"/>
            <a:ext cx="4114800" cy="2834640"/>
          </a:xfrm>
          <a:prstGeom prst="roundRect">
            <a:avLst>
              <a:gd name="adj" fmla="val 3226"/>
            </a:avLst>
          </a:prstGeom>
          <a:solidFill>
            <a:srgbClr val="161B24"/>
          </a:solidFill>
          <a:ln w="12700">
            <a:solidFill>
              <a:srgbClr val="161B24"/>
            </a:solidFill>
            <a:prstDash val="solid"/>
          </a:ln>
          <a:effectLst>
            <a:outerShdw sx="100000" sy="100000" kx="0" ky="0" algn="bl" rotWithShape="0" blurRad="88900" dist="25400" dir="5400000">
              <a:srgbClr val="9AA3B2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26680" y="2240280"/>
            <a:ext cx="91440" cy="91440"/>
          </a:xfrm>
          <a:prstGeom prst="ellipse">
            <a:avLst/>
          </a:prstGeom>
          <a:solidFill>
            <a:srgbClr val="F07B6E"/>
          </a:solidFill>
          <a:ln/>
        </p:spPr>
      </p:sp>
      <p:sp>
        <p:nvSpPr>
          <p:cNvPr id="8" name="Shape 6"/>
          <p:cNvSpPr/>
          <p:nvPr/>
        </p:nvSpPr>
        <p:spPr>
          <a:xfrm>
            <a:off x="7927848" y="2240280"/>
            <a:ext cx="91440" cy="91440"/>
          </a:xfrm>
          <a:prstGeom prst="ellipse">
            <a:avLst/>
          </a:prstGeom>
          <a:solidFill>
            <a:srgbClr val="E0B341"/>
          </a:solidFill>
          <a:ln/>
        </p:spPr>
      </p:sp>
      <p:sp>
        <p:nvSpPr>
          <p:cNvPr id="9" name="Shape 7"/>
          <p:cNvSpPr/>
          <p:nvPr/>
        </p:nvSpPr>
        <p:spPr>
          <a:xfrm>
            <a:off x="8129016" y="2240280"/>
            <a:ext cx="91440" cy="91440"/>
          </a:xfrm>
          <a:prstGeom prst="ellipse">
            <a:avLst/>
          </a:prstGeom>
          <a:solidFill>
            <a:srgbClr val="56D0B2"/>
          </a:solidFill>
          <a:ln/>
        </p:spPr>
      </p:sp>
      <p:sp>
        <p:nvSpPr>
          <p:cNvPr id="10" name="Text 8"/>
          <p:cNvSpPr/>
          <p:nvPr/>
        </p:nvSpPr>
        <p:spPr>
          <a:xfrm>
            <a:off x="7726680" y="251460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7A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--plugin securecoder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6D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✔ skill   secure-codegen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6D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✔ hook    post-write SAST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6D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✔ mcp     guardian pipeline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6D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✔ agent   remediator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6217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securecoder-project.github.io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92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SecureCoder · TU Darmstadt · ATHENE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2883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4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still write vulnerable code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64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AI-generated programs contained exploitable vulnerabilities.
</a:t>
            </a:r>
            <a:pPr indent="0" marL="0">
              <a:buNone/>
            </a:pPr>
            <a:r>
              <a:rPr lang="en-US" sz="1100" i="1" dirty="0">
                <a:solidFill>
                  <a:srgbClr val="6B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Pearce et al., IEEE S&amp;P 2022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270248"/>
            <a:ext cx="548640" cy="548640"/>
          </a:xfrm>
          <a:prstGeom prst="ellipse">
            <a:avLst/>
          </a:prstGeom>
          <a:solidFill>
            <a:srgbClr val="FBEFED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4418381"/>
            <a:ext cx="252374" cy="25237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41788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old bugs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25880" y="45079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injection, path traversal, hardcoded secrets. The CWE top list has barely changed.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5321808"/>
            <a:ext cx="548640" cy="548640"/>
          </a:xfrm>
          <a:prstGeom prst="ellipse">
            <a:avLst/>
          </a:prstGeom>
          <a:solidFill>
            <a:srgbClr val="FBF1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3" y="5469941"/>
            <a:ext cx="252374" cy="25237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52303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make it worse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325880" y="555955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writes and runs code far faster than anyone can review it.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858000" y="1783080"/>
            <a:ext cx="4800600" cy="2880360"/>
          </a:xfrm>
          <a:prstGeom prst="roundRect">
            <a:avLst>
              <a:gd name="adj" fmla="val 3175"/>
            </a:avLst>
          </a:prstGeom>
          <a:solidFill>
            <a:srgbClr val="161B24"/>
          </a:solidFill>
          <a:ln w="12700">
            <a:solidFill>
              <a:srgbClr val="161B24"/>
            </a:solidFill>
            <a:prstDash val="solid"/>
          </a:ln>
          <a:effectLst>
            <a:outerShdw sx="100000" sy="100000" kx="0" ky="0" algn="bl" rotWithShape="0" blurRad="88900" dist="25400" dir="5400000">
              <a:srgbClr val="9AA3B2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14032" y="2039112"/>
            <a:ext cx="91440" cy="91440"/>
          </a:xfrm>
          <a:prstGeom prst="ellipse">
            <a:avLst/>
          </a:prstGeom>
          <a:solidFill>
            <a:srgbClr val="F07B6E"/>
          </a:solidFill>
          <a:ln/>
        </p:spPr>
      </p:sp>
      <p:sp>
        <p:nvSpPr>
          <p:cNvPr id="18" name="Shape 14"/>
          <p:cNvSpPr/>
          <p:nvPr/>
        </p:nvSpPr>
        <p:spPr>
          <a:xfrm>
            <a:off x="7315200" y="2039112"/>
            <a:ext cx="91440" cy="91440"/>
          </a:xfrm>
          <a:prstGeom prst="ellipse">
            <a:avLst/>
          </a:prstGeom>
          <a:solidFill>
            <a:srgbClr val="E0B341"/>
          </a:solidFill>
          <a:ln/>
        </p:spPr>
      </p:sp>
      <p:sp>
        <p:nvSpPr>
          <p:cNvPr id="19" name="Shape 15"/>
          <p:cNvSpPr/>
          <p:nvPr/>
        </p:nvSpPr>
        <p:spPr>
          <a:xfrm>
            <a:off x="7516368" y="2039112"/>
            <a:ext cx="91440" cy="91440"/>
          </a:xfrm>
          <a:prstGeom prst="ellipse">
            <a:avLst/>
          </a:prstGeom>
          <a:solidFill>
            <a:srgbClr val="56D0B2"/>
          </a:solidFill>
          <a:ln/>
        </p:spPr>
      </p:sp>
      <p:sp>
        <p:nvSpPr>
          <p:cNvPr id="20" name="Text 16"/>
          <p:cNvSpPr/>
          <p:nvPr/>
        </p:nvSpPr>
        <p:spPr>
          <a:xfrm>
            <a:off x="7818120" y="19568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user_service.py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178040" y="2377440"/>
            <a:ext cx="4297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7A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@app.route("/user")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get_user():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uid = request.args["id"]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07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 = f"SELECT * FROM users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07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WHERE id={uid}"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db.execute(q)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858000" y="4846320"/>
            <a:ext cx="4800600" cy="1051560"/>
          </a:xfrm>
          <a:prstGeom prst="roundRect">
            <a:avLst>
              <a:gd name="adj" fmla="val 8696"/>
            </a:avLst>
          </a:prstGeom>
          <a:solidFill>
            <a:srgbClr val="FBEFED"/>
          </a:solidFill>
          <a:ln w="12700">
            <a:solidFill>
              <a:srgbClr val="EFD2CE"/>
            </a:solidFill>
            <a:prstDash val="solid"/>
          </a:ln>
          <a:effectLst>
            <a:outerShdw sx="100000" sy="100000" kx="0" ky="0" algn="bl" rotWithShape="0" blurRad="88900" dist="25400" dir="5400000">
              <a:srgbClr val="9AA3B2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132320" y="5084064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0453" y="5232197"/>
            <a:ext cx="252374" cy="25237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863840" y="484632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64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CWE-89 · SQL injection
</a:t>
            </a:r>
            <a:pPr indent="0" marL="0">
              <a:buNone/>
            </a:pPr>
            <a:r>
              <a:rPr lang="en-US" sz="1150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in seconds, exploitable from day one.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92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SecureCoder · TU Darmstadt · ATHENE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2883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5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INITIATIVE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Who's behind it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ATHENE mission project at TU Darmstadt, run jointly by three groups: programming languages, NLP and machine learning.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3566160" cy="2514600"/>
          </a:xfrm>
          <a:prstGeom prst="roundRect">
            <a:avLst>
              <a:gd name="adj" fmla="val 3636"/>
            </a:avLst>
          </a:prstGeom>
          <a:solidFill>
            <a:srgbClr val="F6F7F9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3B2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74520" y="2487168"/>
            <a:ext cx="822960" cy="822960"/>
          </a:xfrm>
          <a:prstGeom prst="ellipse">
            <a:avLst/>
          </a:prstGeom>
          <a:solidFill>
            <a:srgbClr val="FBF1EC"/>
          </a:solidFill>
          <a:ln/>
        </p:spPr>
      </p:sp>
      <p:sp>
        <p:nvSpPr>
          <p:cNvPr id="9" name="Text 7"/>
          <p:cNvSpPr/>
          <p:nvPr/>
        </p:nvSpPr>
        <p:spPr>
          <a:xfrm>
            <a:off x="1874520" y="24871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5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Mira Mezini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31520" y="38039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05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Investigator · Software Technology Group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41330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Programming languages &amp; secure software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25112" y="2148840"/>
            <a:ext cx="3566160" cy="2514600"/>
          </a:xfrm>
          <a:prstGeom prst="roundRect">
            <a:avLst>
              <a:gd name="adj" fmla="val 3636"/>
            </a:avLst>
          </a:prstGeom>
          <a:solidFill>
            <a:srgbClr val="F6F7F9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3B2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96712" y="2487168"/>
            <a:ext cx="822960" cy="822960"/>
          </a:xfrm>
          <a:prstGeom prst="ellipse">
            <a:avLst/>
          </a:prstGeom>
          <a:solidFill>
            <a:srgbClr val="EDF7F4"/>
          </a:solidFill>
          <a:ln/>
        </p:spPr>
      </p:sp>
      <p:sp>
        <p:nvSpPr>
          <p:cNvPr id="15" name="Text 13"/>
          <p:cNvSpPr/>
          <p:nvPr/>
        </p:nvSpPr>
        <p:spPr>
          <a:xfrm>
            <a:off x="5696712" y="24871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A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53712" y="3474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Iryna Gurevych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553712" y="38039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A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Investigator · UKP Lab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99432" y="41330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&amp; large language models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47304" y="2148840"/>
            <a:ext cx="3566160" cy="2514600"/>
          </a:xfrm>
          <a:prstGeom prst="roundRect">
            <a:avLst>
              <a:gd name="adj" fmla="val 3636"/>
            </a:avLst>
          </a:prstGeom>
          <a:solidFill>
            <a:srgbClr val="F6F7F9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3B2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518904" y="2487168"/>
            <a:ext cx="822960" cy="822960"/>
          </a:xfrm>
          <a:prstGeom prst="ellipse">
            <a:avLst/>
          </a:prstGeom>
          <a:solidFill>
            <a:srgbClr val="FBF1EC"/>
          </a:solidFill>
          <a:ln/>
        </p:spPr>
      </p:sp>
      <p:sp>
        <p:nvSpPr>
          <p:cNvPr id="21" name="Text 19"/>
          <p:cNvSpPr/>
          <p:nvPr/>
        </p:nvSpPr>
        <p:spPr>
          <a:xfrm>
            <a:off x="9518904" y="24871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5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75904" y="3474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Kristian Kersting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375904" y="38039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05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Investigator · ML Group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21624" y="41330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reasoning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5074920"/>
            <a:ext cx="11183112" cy="868680"/>
          </a:xfrm>
          <a:prstGeom prst="roundRect">
            <a:avLst>
              <a:gd name="adj" fmla="val 10526"/>
            </a:avLst>
          </a:prstGeom>
          <a:solidFill>
            <a:srgbClr val="EDF7F4"/>
          </a:solidFill>
          <a:ln w="12700">
            <a:solidFill>
              <a:srgbClr val="CFE8E1"/>
            </a:solidFill>
            <a:prstDash val="solid"/>
          </a:ln>
          <a:effectLst>
            <a:outerShdw sx="100000" sy="100000" kx="0" ky="0" algn="bl" rotWithShape="0" blurRad="88900" dist="25400" dir="5400000">
              <a:srgbClr val="9AA3B2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680" y="523036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5378501"/>
            <a:ext cx="252374" cy="25237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600200" y="507492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six researchers  </a:t>
            </a:r>
            <a:pPr indent="0" marL="0">
              <a:buNone/>
            </a:pPr>
            <a:r>
              <a:rPr lang="en-US" sz="1350" dirty="0">
                <a:solidFill>
                  <a:srgbClr val="6B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on symbolic execution, benchmarking, constraint decoding and developer tooling.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92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SecureCoder · TU Darmstadt · ATHENE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2883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5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research, in four parts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404104" cy="2011680"/>
          </a:xfrm>
          <a:prstGeom prst="roundRect">
            <a:avLst>
              <a:gd name="adj" fmla="val 4545"/>
            </a:avLst>
          </a:prstGeom>
          <a:solidFill>
            <a:srgbClr val="F6F7F9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3B2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057400"/>
            <a:ext cx="640080" cy="640080"/>
          </a:xfrm>
          <a:prstGeom prst="ellipse">
            <a:avLst/>
          </a:prstGeom>
          <a:solidFill>
            <a:srgbClr val="EDF7F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502" y="2230222"/>
            <a:ext cx="294437" cy="29443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148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Curation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86968" y="28803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CWE-annotated vulnerability datasets that others can reproduce and compare against.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81928" y="1691640"/>
            <a:ext cx="5404104" cy="2011680"/>
          </a:xfrm>
          <a:prstGeom prst="roundRect">
            <a:avLst>
              <a:gd name="adj" fmla="val 4545"/>
            </a:avLst>
          </a:prstGeom>
          <a:solidFill>
            <a:srgbClr val="F6F7F9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3B2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47688" y="2057400"/>
            <a:ext cx="640080" cy="640080"/>
          </a:xfrm>
          <a:prstGeom prst="ellipse">
            <a:avLst/>
          </a:prstGeom>
          <a:solidFill>
            <a:srgbClr val="FBF1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0510" y="2230222"/>
            <a:ext cx="294437" cy="29443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16368" y="2148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Training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665976" y="28803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with symbolic execution feedback, so models learn what unsafe code looks like.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02920" y="3931920"/>
            <a:ext cx="5404104" cy="2011680"/>
          </a:xfrm>
          <a:prstGeom prst="roundRect">
            <a:avLst>
              <a:gd name="adj" fmla="val 4545"/>
            </a:avLst>
          </a:prstGeom>
          <a:solidFill>
            <a:srgbClr val="F6F7F9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3B2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4297680"/>
            <a:ext cx="640080" cy="640080"/>
          </a:xfrm>
          <a:prstGeom prst="ellipse">
            <a:avLst/>
          </a:prstGeom>
          <a:solidFill>
            <a:srgbClr val="FBF1E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502" y="4470502"/>
            <a:ext cx="294437" cy="29443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37360" y="4389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Decoding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86968" y="5120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discriminator critiques code during decoding and steers it away from known vulnerable patterns.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281928" y="3931920"/>
            <a:ext cx="5404104" cy="2011680"/>
          </a:xfrm>
          <a:prstGeom prst="roundRect">
            <a:avLst>
              <a:gd name="adj" fmla="val 4545"/>
            </a:avLst>
          </a:prstGeom>
          <a:solidFill>
            <a:srgbClr val="F6F7F9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3B2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647688" y="4297680"/>
            <a:ext cx="640080" cy="640080"/>
          </a:xfrm>
          <a:prstGeom prst="ellipse">
            <a:avLst/>
          </a:prstGeom>
          <a:solidFill>
            <a:srgbClr val="EDF7F4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0510" y="4470502"/>
            <a:ext cx="294437" cy="29443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16368" y="4389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&amp; Benchmarking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6665976" y="5120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JetBrains plugin, plus one CLI that runs CWEval, SecCodePLT and CyberSecEval.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92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SecureCoder · TU Darmstadt · ATHENE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2883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5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that ships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404104" cy="2651760"/>
          </a:xfrm>
          <a:prstGeom prst="roundRect">
            <a:avLst>
              <a:gd name="adj" fmla="val 3448"/>
            </a:avLst>
          </a:prstGeom>
          <a:solidFill>
            <a:srgbClr val="F6F7F9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3B2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057400"/>
            <a:ext cx="640080" cy="640080"/>
          </a:xfrm>
          <a:prstGeom prst="ellipse">
            <a:avLst/>
          </a:prstGeom>
          <a:solidFill>
            <a:srgbClr val="FBF1E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502" y="2230222"/>
            <a:ext cx="294437" cy="29443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148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JetBrains IDE Plugin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86968" y="29718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 vulnerable suggestions in the editor and proposes safer alternatives.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86968" y="37947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5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on JetBrains Marketplace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81928" y="1691640"/>
            <a:ext cx="5404104" cy="2651760"/>
          </a:xfrm>
          <a:prstGeom prst="roundRect">
            <a:avLst>
              <a:gd name="adj" fmla="val 3448"/>
            </a:avLst>
          </a:prstGeom>
          <a:solidFill>
            <a:srgbClr val="F6F7F9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3B2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47688" y="2057400"/>
            <a:ext cx="640080" cy="640080"/>
          </a:xfrm>
          <a:prstGeom prst="ellipse">
            <a:avLst/>
          </a:prstGeom>
          <a:solidFill>
            <a:srgbClr val="EDF7F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0510" y="2230222"/>
            <a:ext cx="294437" cy="29443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16368" y="2148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CLI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6665976" y="29718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any model, hosted or local, against three standard security benchmarks.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665976" y="37947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A6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source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02920" y="4800600"/>
            <a:ext cx="11183112" cy="1143000"/>
          </a:xfrm>
          <a:prstGeom prst="roundRect">
            <a:avLst>
              <a:gd name="adj" fmla="val 8000"/>
            </a:avLst>
          </a:prstGeom>
          <a:solidFill>
            <a:srgbClr val="FBF1EC"/>
          </a:solidFill>
          <a:ln w="12700">
            <a:solidFill>
              <a:srgbClr val="F0DACF"/>
            </a:solidFill>
            <a:prstDash val="solid"/>
          </a:ln>
          <a:effectLst>
            <a:outerShdw sx="100000" sy="100000" kx="0" ky="0" algn="bl" rotWithShape="0" blurRad="88900" dist="25400" dir="5400000">
              <a:srgbClr val="9AA3B2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68680" y="5084064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751" y="5237135"/>
            <a:ext cx="260787" cy="26078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45920" y="4800600"/>
            <a:ext cx="9784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third frontend is why we're here:  </a:t>
            </a:r>
            <a:pPr indent="0" marL="0">
              <a:buNone/>
            </a:pPr>
            <a:r>
              <a:rPr lang="en-US" sz="1600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plugin for Claude Code.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92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SecureCoder · TU Darmstadt · ATHENE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2883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5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CLAUDE CODE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already is our workflow engine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only had to port the static analysis. Claude already covers the rest.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KOTLIN ENGINE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720840" y="2057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05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PLUGIN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468880"/>
            <a:ext cx="4937760" cy="731520"/>
          </a:xfrm>
          <a:prstGeom prst="roundRect">
            <a:avLst>
              <a:gd name="adj" fmla="val 12500"/>
            </a:avLst>
          </a:prstGeom>
          <a:solidFill>
            <a:srgbClr val="F6F7F9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3B2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20840" y="2468880"/>
            <a:ext cx="4937760" cy="731520"/>
          </a:xfrm>
          <a:prstGeom prst="roundRect">
            <a:avLst>
              <a:gd name="adj" fmla="val 12500"/>
            </a:avLst>
          </a:prstGeom>
          <a:solidFill>
            <a:srgbClr val="EDF7F4"/>
          </a:solidFill>
          <a:ln w="12700">
            <a:solidFill>
              <a:srgbClr val="CFE8E1"/>
            </a:solidFill>
            <a:prstDash val="solid"/>
          </a:ln>
          <a:effectLst>
            <a:outerShdw sx="100000" sy="100000" kx="0" ky="0" algn="bl" rotWithShape="0" blurRad="88900" dist="25400" dir="5400000">
              <a:srgbClr val="9AA3B2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24688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 engine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40880" y="24688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A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Code's agentic loop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0" y="24688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" y="3364992"/>
            <a:ext cx="4937760" cy="731520"/>
          </a:xfrm>
          <a:prstGeom prst="roundRect">
            <a:avLst>
              <a:gd name="adj" fmla="val 12500"/>
            </a:avLst>
          </a:prstGeom>
          <a:solidFill>
            <a:srgbClr val="F6F7F9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3B2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720840" y="3364992"/>
            <a:ext cx="4937760" cy="731520"/>
          </a:xfrm>
          <a:prstGeom prst="roundRect">
            <a:avLst>
              <a:gd name="adj" fmla="val 12500"/>
            </a:avLst>
          </a:prstGeom>
          <a:solidFill>
            <a:srgbClr val="F6F7F9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3B2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33649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enricher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40880" y="33649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secure-codegen skill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0" y="336499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02920" y="4261104"/>
            <a:ext cx="4937760" cy="731520"/>
          </a:xfrm>
          <a:prstGeom prst="roundRect">
            <a:avLst>
              <a:gd name="adj" fmla="val 12500"/>
            </a:avLst>
          </a:prstGeom>
          <a:solidFill>
            <a:srgbClr val="F6F7F9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3B2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0840" y="4261104"/>
            <a:ext cx="4937760" cy="731520"/>
          </a:xfrm>
          <a:prstGeom prst="roundRect">
            <a:avLst>
              <a:gd name="adj" fmla="val 12500"/>
            </a:avLst>
          </a:prstGeom>
          <a:solidFill>
            <a:srgbClr val="F6F7F9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3B2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26110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Guardians: CodeQL, semgrep, bandit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40880" y="426110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Zero-dependency MCP server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0" y="4261104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02920" y="5157216"/>
            <a:ext cx="4937760" cy="731520"/>
          </a:xfrm>
          <a:prstGeom prst="roundRect">
            <a:avLst>
              <a:gd name="adj" fmla="val 12500"/>
            </a:avLst>
          </a:prstGeom>
          <a:solidFill>
            <a:srgbClr val="F6F7F9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3B2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20840" y="5157216"/>
            <a:ext cx="4937760" cy="731520"/>
          </a:xfrm>
          <a:prstGeom prst="roundRect">
            <a:avLst>
              <a:gd name="adj" fmla="val 12500"/>
            </a:avLst>
          </a:prstGeom>
          <a:solidFill>
            <a:srgbClr val="EDF7F4"/>
          </a:solidFill>
          <a:ln w="12700">
            <a:solidFill>
              <a:srgbClr val="CFE8E1"/>
            </a:solidFill>
            <a:prstDash val="solid"/>
          </a:ln>
          <a:effectLst>
            <a:outerShdw sx="100000" sy="100000" kx="0" ky="0" algn="bl" rotWithShape="0" blurRad="88900" dist="25400" dir="5400000">
              <a:srgbClr val="9AA3B2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Violation triage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40880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A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Claude, in-context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486400" y="5157216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92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SecureCoder · TU Darmstadt · ATHENE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2883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5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PLUGIN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install, three lines of defense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F6F7F9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3B2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0392" y="2148840"/>
            <a:ext cx="658368" cy="658368"/>
          </a:xfrm>
          <a:prstGeom prst="ellipse">
            <a:avLst/>
          </a:prstGeom>
          <a:solidFill>
            <a:srgbClr val="EDF7F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151" y="2326599"/>
            <a:ext cx="302849" cy="30284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3063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FA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BEFORE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68680" y="342900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skill adds security constraints and a short threat model to the prompt.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050792" y="2880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4489704" y="178308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F6F7F9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3B2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37176" y="2148840"/>
            <a:ext cx="658368" cy="658368"/>
          </a:xfrm>
          <a:prstGeom prst="ellipse">
            <a:avLst/>
          </a:prstGeom>
          <a:solidFill>
            <a:srgbClr val="FBF1E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935" y="2326599"/>
            <a:ext cx="302849" cy="30284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55464" y="3063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05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AFTER EVERY WRITE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855464" y="342900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hook runs semgrep and bandit after each write and puts the findings in context.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8037576" y="2880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8476488" y="178308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F6F7F9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3B2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823960" y="2148840"/>
            <a:ext cx="658368" cy="658368"/>
          </a:xfrm>
          <a:prstGeom prst="ellipse">
            <a:avLst/>
          </a:prstGeom>
          <a:solidFill>
            <a:srgbClr val="EDF7F4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719" y="2326599"/>
            <a:ext cx="302849" cy="30284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842248" y="3063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FA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UNTIL CLEAN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8842248" y="342900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remediation agent keeps fixing and re-checking until the analyzers pass.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502920" y="4983480"/>
            <a:ext cx="11548872" cy="1005840"/>
          </a:xfrm>
          <a:prstGeom prst="roundRect">
            <a:avLst>
              <a:gd name="adj" fmla="val 9091"/>
            </a:avLst>
          </a:prstGeom>
          <a:solidFill>
            <a:srgbClr val="F6F7F9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3B2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68680" y="5212080"/>
            <a:ext cx="548640" cy="548640"/>
          </a:xfrm>
          <a:prstGeom prst="ellipse">
            <a:avLst/>
          </a:prstGeom>
          <a:solidFill>
            <a:srgbClr val="FBF1EC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813" y="5360213"/>
            <a:ext cx="252374" cy="25237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00200" y="49834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securecoder-analysis MCP server  </a:t>
            </a:r>
            <a:pPr indent="0" marL="0">
              <a:buNone/>
            </a:pPr>
            <a:r>
              <a:rPr lang="en-US" sz="1250" dirty="0">
                <a:solidFill>
                  <a:srgbClr val="6B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the analysis for all three stages.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92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SecureCoder · TU Darmstadt · ATHENE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2883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5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pieces fit together</a:t>
            </a:r>
            <a:endParaRPr lang="en-US" sz="3100" dirty="0"/>
          </a:p>
        </p:txBody>
      </p:sp>
      <p:pic>
        <p:nvPicPr>
          <p:cNvPr id="6" name="Image 0" descr="arch-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1036" y="1481328"/>
            <a:ext cx="9326880" cy="48661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92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SecureCoder · TU Darmstadt · ATHENE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2883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5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speeds of analysis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5486400" cy="2743200"/>
          </a:xfrm>
          <a:prstGeom prst="roundRect">
            <a:avLst>
              <a:gd name="adj" fmla="val 3333"/>
            </a:avLst>
          </a:prstGeom>
          <a:solidFill>
            <a:srgbClr val="F6F7F9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3B2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148840"/>
            <a:ext cx="658368" cy="658368"/>
          </a:xfrm>
          <a:prstGeom prst="ellipse">
            <a:avLst/>
          </a:prstGeom>
          <a:solidFill>
            <a:srgbClr val="FBF1E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439" y="2326599"/>
            <a:ext cx="302849" cy="30284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2286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lane · seconds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96112" y="3063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after every file write.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96112" y="3520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5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 check   ·   semgrep   ·   bandit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783080"/>
            <a:ext cx="5486400" cy="2743200"/>
          </a:xfrm>
          <a:prstGeom prst="roundRect">
            <a:avLst>
              <a:gd name="adj" fmla="val 3333"/>
            </a:avLst>
          </a:prstGeom>
          <a:solidFill>
            <a:srgbClr val="F6F7F9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3B2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29400" y="2148840"/>
            <a:ext cx="658368" cy="658368"/>
          </a:xfrm>
          <a:prstGeom prst="ellipse">
            <a:avLst/>
          </a:prstGeom>
          <a:solidFill>
            <a:srgbClr val="EDF7F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159" y="2326599"/>
            <a:ext cx="302849" cy="30284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43800" y="2286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lane · on demand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656832" y="3063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 the first pass and the final check.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656832" y="3520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A6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CodeQL · security-extended suites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02920" y="4892040"/>
            <a:ext cx="11247120" cy="1051560"/>
          </a:xfrm>
          <a:prstGeom prst="roundRect">
            <a:avLst>
              <a:gd name="adj" fmla="val 8696"/>
            </a:avLst>
          </a:prstGeom>
          <a:solidFill>
            <a:srgbClr val="EDF7F4"/>
          </a:solidFill>
          <a:ln w="12700">
            <a:solidFill>
              <a:srgbClr val="CFE8E1"/>
            </a:solidFill>
            <a:prstDash val="solid"/>
          </a:ln>
          <a:effectLst>
            <a:outerShdw sx="100000" sy="100000" kx="0" ky="0" algn="bl" rotWithShape="0" blurRad="88900" dist="25400" dir="5400000">
              <a:srgbClr val="9AA3B2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68680" y="513892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3" y="5287061"/>
            <a:ext cx="252374" cy="25237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00200" y="489204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server tracks each session:  </a:t>
            </a:r>
            <a:pPr indent="0" marL="0">
              <a:buNone/>
            </a:pPr>
            <a:r>
              <a:rPr lang="en-US" sz="1350" dirty="0">
                <a:solidFill>
                  <a:srgbClr val="6B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findings were fixed, which are new, which persist, and when to stop retrying.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92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SecureCoder · TU Darmstadt · ATHENE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2883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5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Claude sees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5486400" cy="3108960"/>
          </a:xfrm>
          <a:prstGeom prst="roundRect">
            <a:avLst>
              <a:gd name="adj" fmla="val 2941"/>
            </a:avLst>
          </a:prstGeom>
          <a:solidFill>
            <a:srgbClr val="161B24"/>
          </a:solidFill>
          <a:ln w="12700">
            <a:solidFill>
              <a:srgbClr val="161B24"/>
            </a:solidFill>
            <a:prstDash val="solid"/>
          </a:ln>
          <a:effectLst>
            <a:outerShdw sx="100000" sy="100000" kx="0" ky="0" algn="bl" rotWithShape="0" blurRad="88900" dist="25400" dir="5400000">
              <a:srgbClr val="9AA3B2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057400"/>
            <a:ext cx="91440" cy="91440"/>
          </a:xfrm>
          <a:prstGeom prst="ellipse">
            <a:avLst/>
          </a:prstGeom>
          <a:solidFill>
            <a:srgbClr val="F07B6E"/>
          </a:solidFill>
          <a:ln/>
        </p:spPr>
      </p:sp>
      <p:sp>
        <p:nvSpPr>
          <p:cNvPr id="8" name="Shape 6"/>
          <p:cNvSpPr/>
          <p:nvPr/>
        </p:nvSpPr>
        <p:spPr>
          <a:xfrm>
            <a:off x="978408" y="2057400"/>
            <a:ext cx="91440" cy="91440"/>
          </a:xfrm>
          <a:prstGeom prst="ellipse">
            <a:avLst/>
          </a:prstGeom>
          <a:solidFill>
            <a:srgbClr val="E0B341"/>
          </a:solidFill>
          <a:ln/>
        </p:spPr>
      </p:sp>
      <p:sp>
        <p:nvSpPr>
          <p:cNvPr id="9" name="Shape 7"/>
          <p:cNvSpPr/>
          <p:nvPr/>
        </p:nvSpPr>
        <p:spPr>
          <a:xfrm>
            <a:off x="1179576" y="2057400"/>
            <a:ext cx="91440" cy="91440"/>
          </a:xfrm>
          <a:prstGeom prst="ellipse">
            <a:avLst/>
          </a:prstGeom>
          <a:solidFill>
            <a:srgbClr val="56D0B2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19751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 output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37744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7A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[securecoder] 2 findings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07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 CWE-89  SQL injection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use parameterized queries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E0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   CWE-798 hardcoded secret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move to a secret manager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783080"/>
            <a:ext cx="5486400" cy="3108960"/>
          </a:xfrm>
          <a:prstGeom prst="roundRect">
            <a:avLst>
              <a:gd name="adj" fmla="val 2941"/>
            </a:avLst>
          </a:prstGeom>
          <a:solidFill>
            <a:srgbClr val="161B24"/>
          </a:solidFill>
          <a:ln w="12700">
            <a:solidFill>
              <a:srgbClr val="161B24"/>
            </a:solidFill>
            <a:prstDash val="solid"/>
          </a:ln>
          <a:effectLst>
            <a:outerShdw sx="100000" sy="100000" kx="0" ky="0" algn="bl" rotWithShape="0" blurRad="88900" dist="25400" dir="5400000">
              <a:srgbClr val="9AA3B2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37960" y="2057400"/>
            <a:ext cx="91440" cy="91440"/>
          </a:xfrm>
          <a:prstGeom prst="ellipse">
            <a:avLst/>
          </a:prstGeom>
          <a:solidFill>
            <a:srgbClr val="F07B6E"/>
          </a:solidFill>
          <a:ln/>
        </p:spPr>
      </p:sp>
      <p:sp>
        <p:nvSpPr>
          <p:cNvPr id="14" name="Shape 12"/>
          <p:cNvSpPr/>
          <p:nvPr/>
        </p:nvSpPr>
        <p:spPr>
          <a:xfrm>
            <a:off x="6739128" y="2057400"/>
            <a:ext cx="91440" cy="91440"/>
          </a:xfrm>
          <a:prstGeom prst="ellipse">
            <a:avLst/>
          </a:prstGeom>
          <a:solidFill>
            <a:srgbClr val="E0B341"/>
          </a:solidFill>
          <a:ln/>
        </p:spPr>
      </p:sp>
      <p:sp>
        <p:nvSpPr>
          <p:cNvPr id="15" name="Shape 13"/>
          <p:cNvSpPr/>
          <p:nvPr/>
        </p:nvSpPr>
        <p:spPr>
          <a:xfrm>
            <a:off x="6940296" y="2057400"/>
            <a:ext cx="91440" cy="91440"/>
          </a:xfrm>
          <a:prstGeom prst="ellipse">
            <a:avLst/>
          </a:prstGeom>
          <a:solidFill>
            <a:srgbClr val="56D0B2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19751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remediation report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23774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attempt     2 / 7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56D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resolved    2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persisting  0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pass   CodeQL ✔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EC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56D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verdict     CLEAN ✔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5212080"/>
            <a:ext cx="11247120" cy="822960"/>
          </a:xfrm>
          <a:prstGeom prst="roundRect">
            <a:avLst>
              <a:gd name="adj" fmla="val 11111"/>
            </a:avLst>
          </a:prstGeom>
          <a:solidFill>
            <a:srgbClr val="EDF7F4"/>
          </a:solidFill>
          <a:ln w="12700">
            <a:solidFill>
              <a:srgbClr val="CFE8E1"/>
            </a:solidFill>
            <a:prstDash val="solid"/>
          </a:ln>
          <a:effectLst>
            <a:outerShdw sx="100000" sy="100000" kx="0" ky="0" algn="bl" rotWithShape="0" blurRad="88900" dist="25400" dir="5400000">
              <a:srgbClr val="9AA3B2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53492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5497373"/>
            <a:ext cx="252374" cy="25237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600200" y="52120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this happens on its own during a normal coding session.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92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SecureCoder · TU Darmstadt · ATHENE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2883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5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goes next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404104" cy="2011680"/>
          </a:xfrm>
          <a:prstGeom prst="roundRect">
            <a:avLst>
              <a:gd name="adj" fmla="val 4545"/>
            </a:avLst>
          </a:prstGeom>
          <a:solidFill>
            <a:srgbClr val="F6F7F9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3B2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057400"/>
            <a:ext cx="640080" cy="640080"/>
          </a:xfrm>
          <a:prstGeom prst="ellipse">
            <a:avLst/>
          </a:prstGeom>
          <a:solidFill>
            <a:srgbClr val="FBF1E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502" y="2230222"/>
            <a:ext cx="294437" cy="29443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198424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decoding in the harness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86968" y="29260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discriminator-guided decoding from the research side into agent workflows.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81928" y="1691640"/>
            <a:ext cx="5404104" cy="2011680"/>
          </a:xfrm>
          <a:prstGeom prst="roundRect">
            <a:avLst>
              <a:gd name="adj" fmla="val 4545"/>
            </a:avLst>
          </a:prstGeom>
          <a:solidFill>
            <a:srgbClr val="F6F7F9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3B2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47688" y="2057400"/>
            <a:ext cx="640080" cy="640080"/>
          </a:xfrm>
          <a:prstGeom prst="ellipse">
            <a:avLst/>
          </a:prstGeom>
          <a:solidFill>
            <a:srgbClr val="EDF7F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0510" y="2230222"/>
            <a:ext cx="294437" cy="29443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16368" y="198424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benchmarks for frontier models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665976" y="29260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CLI can measure how securely a given model writes code.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02920" y="3931920"/>
            <a:ext cx="5404104" cy="2011680"/>
          </a:xfrm>
          <a:prstGeom prst="roundRect">
            <a:avLst>
              <a:gd name="adj" fmla="val 4545"/>
            </a:avLst>
          </a:prstGeom>
          <a:solidFill>
            <a:srgbClr val="F6F7F9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3B2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4297680"/>
            <a:ext cx="640080" cy="640080"/>
          </a:xfrm>
          <a:prstGeom prst="ellipse">
            <a:avLst/>
          </a:prstGeom>
          <a:solidFill>
            <a:srgbClr val="EDF7F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502" y="4470502"/>
            <a:ext cx="294437" cy="29443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37360" y="422452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marketplace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86968" y="51663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the plugin and keep both frontends on the same engine.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281928" y="3931920"/>
            <a:ext cx="5404104" cy="2011680"/>
          </a:xfrm>
          <a:prstGeom prst="roundRect">
            <a:avLst>
              <a:gd name="adj" fmla="val 4545"/>
            </a:avLst>
          </a:prstGeom>
          <a:solidFill>
            <a:srgbClr val="F6F7F9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3B2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647688" y="4297680"/>
            <a:ext cx="640080" cy="640080"/>
          </a:xfrm>
          <a:prstGeom prst="ellipse">
            <a:avLst/>
          </a:prstGeom>
          <a:solidFill>
            <a:srgbClr val="FBF1E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0510" y="4470502"/>
            <a:ext cx="294437" cy="29443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16368" y="422452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security datasets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6665976" y="51663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CWE-annotated data is usable for training and for evals.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00200"/>
            <a:ext cx="777240" cy="777240"/>
          </a:xfrm>
          <a:prstGeom prst="ellipse">
            <a:avLst/>
          </a:prstGeom>
          <a:solidFill>
            <a:srgbClr val="EDF7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655" y="1810055"/>
            <a:ext cx="357530" cy="3575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60604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as a </a:t>
            </a:r>
            <a:pPr indent="0" marL="0">
              <a:buNone/>
            </a:pPr>
            <a:r>
              <a:rPr lang="en-US" sz="4400" b="1" dirty="0">
                <a:solidFill>
                  <a:srgbClr val="C05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first-class constraint</a:t>
            </a:r>
            <a:pPr indent="0" marL="0">
              <a:buNone/>
            </a:pPr>
            <a:r>
              <a:rPr lang="en-US" sz="4400" b="1" dirty="0">
                <a:solidFill>
                  <a:srgbClr val="22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 agent loop.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85800" y="4297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B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before generation, after every write, and until the analyzers come back clean.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34924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69848" y="533095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securecoder-project.github.io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534924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001768" y="533095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github.com/SecureCoder-Project</a:t>
            </a:r>
            <a:endParaRPr lang="en-US" sz="1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5349240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933688" y="533095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 · UKP · ML · TU Darmstadt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685800" y="6217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· SecureCoder · ATHENE Mission Project · TU Darmstadt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2026-07-17T17:21:08Z</dcterms:created>
  <dcterms:modified xsi:type="dcterms:W3CDTF">2026-07-17T17:21:08Z</dcterms:modified>
</cp:coreProperties>
</file>