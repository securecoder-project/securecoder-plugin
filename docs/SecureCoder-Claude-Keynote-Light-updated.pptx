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7" r:id="rId19"/>
    <p:sldId id="266" r:id="rId18"/>
    <p:sldId id="265" r:id="rId17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7.xml"/><Relationship Id="rId18" Type="http://schemas.openxmlformats.org/officeDocument/2006/relationships/slide" Target="slides/slide6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85800" y="1673812"/>
            <a:ext cx="6400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50" sz="12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CODE PLUGIN  ·  HOW IT WORKS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640080" y="2080855"/>
            <a:ext cx="6675119" cy="91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4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85799" y="3402882"/>
            <a:ext cx="6217922" cy="60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1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Security-aware code generation,</a:t>
            </a:r>
          </a:p>
          <a:p>
            <a:pPr>
              <a:defRPr sz="21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22262F"/>
                </a:solidFill>
              </a:rPr>
              <a:t>inside the agent loop.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85800" y="4417012"/>
            <a:ext cx="59436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STG Group at TU Darmstadt · July 2026</a:t>
            </a:r>
          </a:p>
        </p:txBody>
      </p:sp>
      <p:sp>
        <p:nvSpPr>
          <p:cNvPr id="24" name="Shape 4"/>
          <p:cNvSpPr/>
          <p:nvPr/>
        </p:nvSpPr>
        <p:spPr>
          <a:xfrm>
            <a:off x="7452359" y="1965960"/>
            <a:ext cx="4114801" cy="2834640"/>
          </a:xfrm>
          <a:prstGeom prst="roundRect">
            <a:avLst>
              <a:gd name="adj" fmla="val 3226"/>
            </a:avLst>
          </a:prstGeom>
          <a:solidFill>
            <a:srgbClr val="161B24"/>
          </a:solidFill>
          <a:ln w="12700">
            <a:solidFill>
              <a:srgbClr val="161B24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7726680" y="2240279"/>
            <a:ext cx="91441" cy="91441"/>
          </a:xfrm>
          <a:prstGeom prst="ellipse">
            <a:avLst/>
          </a:prstGeom>
          <a:solidFill>
            <a:srgbClr val="F07B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7927847" y="2240279"/>
            <a:ext cx="91441" cy="91441"/>
          </a:xfrm>
          <a:prstGeom prst="ellipse">
            <a:avLst/>
          </a:prstGeom>
          <a:solidFill>
            <a:srgbClr val="E0B34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8129016" y="2240279"/>
            <a:ext cx="91441" cy="91441"/>
          </a:xfrm>
          <a:prstGeom prst="ellipse">
            <a:avLst/>
          </a:prstGeom>
          <a:solidFill>
            <a:srgbClr val="56D0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7726680" y="2514600"/>
            <a:ext cx="3657601" cy="1467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claude --plugin securecoder</a:t>
            </a:r>
          </a:p>
          <a:p>
            <a:pPr>
              <a:lnSpc>
                <a:spcPct val="125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25000"/>
              </a:lnSpc>
              <a:defRPr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✔ skill   secure-codegen</a:t>
            </a:r>
          </a:p>
          <a:p>
            <a:pPr>
              <a:lnSpc>
                <a:spcPct val="125000"/>
              </a:lnSpc>
              <a:defRPr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✔ hook    post-write SAST</a:t>
            </a:r>
          </a:p>
          <a:p>
            <a:pPr>
              <a:lnSpc>
                <a:spcPct val="125000"/>
              </a:lnSpc>
              <a:defRPr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✔ mcp     guardian pipeline</a:t>
            </a:r>
          </a:p>
          <a:p>
            <a:pPr>
              <a:lnSpc>
                <a:spcPct val="125000"/>
              </a:lnSpc>
              <a:defRPr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✔ agent   remediator</a:t>
            </a:r>
          </a:p>
          <a:p>
            <a:pPr>
              <a:lnSpc>
                <a:spcPct val="125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25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ready.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685800" y="6278879"/>
            <a:ext cx="45720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48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/plugin install securecoder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D645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4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LLMs still write vulnerable code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502919" y="1848837"/>
            <a:ext cx="2834641" cy="101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200">
                <a:solidFill>
                  <a:srgbClr val="D6453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548639" y="2971800"/>
            <a:ext cx="5120642" cy="579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of AI-generated programs contained exploitable vulnerabilities.</a:t>
            </a:r>
          </a:p>
          <a:p>
            <a:pPr>
              <a:defRPr sz="15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i="1" sz="1100">
                <a:solidFill>
                  <a:srgbClr val="6B7484"/>
                </a:solidFill>
              </a:rPr>
              <a:t>Pearce et al., IEEE S&amp;P 2022</a:t>
            </a:r>
          </a:p>
        </p:txBody>
      </p:sp>
      <p:sp>
        <p:nvSpPr>
          <p:cNvPr id="37" name="Shape 6"/>
          <p:cNvSpPr/>
          <p:nvPr/>
        </p:nvSpPr>
        <p:spPr>
          <a:xfrm>
            <a:off x="548640" y="4270247"/>
            <a:ext cx="548641" cy="548641"/>
          </a:xfrm>
          <a:prstGeom prst="ellipse">
            <a:avLst/>
          </a:prstGeom>
          <a:solidFill>
            <a:srgbClr val="FBEF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773" y="4418381"/>
            <a:ext cx="252375" cy="25237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7"/>
          <p:cNvSpPr txBox="1"/>
          <p:nvPr/>
        </p:nvSpPr>
        <p:spPr>
          <a:xfrm>
            <a:off x="1325879" y="4233994"/>
            <a:ext cx="493776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same old bugs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1325880" y="4507991"/>
            <a:ext cx="502920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SQL injection, path traversal, hardcoded secrets. The CWE top list has barely changed.</a:t>
            </a:r>
          </a:p>
        </p:txBody>
      </p:sp>
      <p:sp>
        <p:nvSpPr>
          <p:cNvPr id="41" name="Shape 9"/>
          <p:cNvSpPr/>
          <p:nvPr/>
        </p:nvSpPr>
        <p:spPr>
          <a:xfrm>
            <a:off x="548640" y="5321808"/>
            <a:ext cx="548641" cy="548641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6773" y="5469940"/>
            <a:ext cx="252375" cy="252375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10"/>
          <p:cNvSpPr txBox="1"/>
          <p:nvPr/>
        </p:nvSpPr>
        <p:spPr>
          <a:xfrm>
            <a:off x="1325879" y="5285554"/>
            <a:ext cx="493776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Agents make it worse</a:t>
            </a:r>
          </a:p>
        </p:txBody>
      </p:sp>
      <p:sp>
        <p:nvSpPr>
          <p:cNvPr id="44" name="Text 11"/>
          <p:cNvSpPr txBox="1"/>
          <p:nvPr/>
        </p:nvSpPr>
        <p:spPr>
          <a:xfrm>
            <a:off x="1325880" y="5559552"/>
            <a:ext cx="50292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 agent writes and runs code far faster than anyone can review it.</a:t>
            </a:r>
          </a:p>
        </p:txBody>
      </p:sp>
      <p:sp>
        <p:nvSpPr>
          <p:cNvPr id="45" name="Shape 12"/>
          <p:cNvSpPr/>
          <p:nvPr/>
        </p:nvSpPr>
        <p:spPr>
          <a:xfrm>
            <a:off x="6858000" y="1783079"/>
            <a:ext cx="4800600" cy="2880361"/>
          </a:xfrm>
          <a:prstGeom prst="roundRect">
            <a:avLst>
              <a:gd name="adj" fmla="val 3175"/>
            </a:avLst>
          </a:prstGeom>
          <a:solidFill>
            <a:srgbClr val="161B24"/>
          </a:solidFill>
          <a:ln w="12700">
            <a:solidFill>
              <a:srgbClr val="161B24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" name="Shape 13"/>
          <p:cNvSpPr/>
          <p:nvPr/>
        </p:nvSpPr>
        <p:spPr>
          <a:xfrm>
            <a:off x="7114031" y="2039111"/>
            <a:ext cx="91441" cy="91441"/>
          </a:xfrm>
          <a:prstGeom prst="ellipse">
            <a:avLst/>
          </a:prstGeom>
          <a:solidFill>
            <a:srgbClr val="F07B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14"/>
          <p:cNvSpPr/>
          <p:nvPr/>
        </p:nvSpPr>
        <p:spPr>
          <a:xfrm>
            <a:off x="7315200" y="2039111"/>
            <a:ext cx="91441" cy="91441"/>
          </a:xfrm>
          <a:prstGeom prst="ellipse">
            <a:avLst/>
          </a:prstGeom>
          <a:solidFill>
            <a:srgbClr val="E0B34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5"/>
          <p:cNvSpPr/>
          <p:nvPr/>
        </p:nvSpPr>
        <p:spPr>
          <a:xfrm>
            <a:off x="7516368" y="2039111"/>
            <a:ext cx="91441" cy="91441"/>
          </a:xfrm>
          <a:prstGeom prst="ellipse">
            <a:avLst/>
          </a:prstGeom>
          <a:solidFill>
            <a:srgbClr val="56D0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6"/>
          <p:cNvSpPr txBox="1"/>
          <p:nvPr/>
        </p:nvSpPr>
        <p:spPr>
          <a:xfrm>
            <a:off x="7818119" y="2001266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user_service.py</a:t>
            </a:r>
          </a:p>
        </p:txBody>
      </p:sp>
      <p:sp>
        <p:nvSpPr>
          <p:cNvPr id="50" name="Text 17"/>
          <p:cNvSpPr txBox="1"/>
          <p:nvPr/>
        </p:nvSpPr>
        <p:spPr>
          <a:xfrm>
            <a:off x="7178040" y="2377439"/>
            <a:ext cx="429768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@app.route("/user")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get_user():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uid = request.args["id"]</a:t>
            </a:r>
          </a:p>
          <a:p>
            <a:pPr>
              <a:lnSpc>
                <a:spcPct val="130000"/>
              </a:lnSpc>
              <a:defRPr sz="1100">
                <a:solidFill>
                  <a:srgbClr val="F07B6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q = f"SELECT * FROM users</a:t>
            </a:r>
          </a:p>
          <a:p>
            <a:pPr>
              <a:lnSpc>
                <a:spcPct val="130000"/>
              </a:lnSpc>
              <a:defRPr sz="1100">
                <a:solidFill>
                  <a:srgbClr val="F07B6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WHERE id={uid}"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db.execute(q)</a:t>
            </a:r>
          </a:p>
        </p:txBody>
      </p:sp>
      <p:sp>
        <p:nvSpPr>
          <p:cNvPr id="51" name="Shape 18"/>
          <p:cNvSpPr/>
          <p:nvPr/>
        </p:nvSpPr>
        <p:spPr>
          <a:xfrm>
            <a:off x="6858000" y="4846320"/>
            <a:ext cx="4800600" cy="1051561"/>
          </a:xfrm>
          <a:prstGeom prst="roundRect">
            <a:avLst>
              <a:gd name="adj" fmla="val 8696"/>
            </a:avLst>
          </a:prstGeom>
          <a:solidFill>
            <a:srgbClr val="FBEFED"/>
          </a:solidFill>
          <a:ln w="12700">
            <a:solidFill>
              <a:srgbClr val="EFD2C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Shape 19"/>
          <p:cNvSpPr/>
          <p:nvPr/>
        </p:nvSpPr>
        <p:spPr>
          <a:xfrm>
            <a:off x="7132319" y="5084064"/>
            <a:ext cx="548641" cy="548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3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80453" y="5232196"/>
            <a:ext cx="252375" cy="252375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20"/>
          <p:cNvSpPr txBox="1"/>
          <p:nvPr/>
        </p:nvSpPr>
        <p:spPr>
          <a:xfrm>
            <a:off x="7863840" y="5202935"/>
            <a:ext cx="3657601" cy="338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D645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CWE-89 · SQL injection</a:t>
            </a:r>
          </a:p>
          <a:p>
            <a:pPr>
              <a:defRPr b="1" sz="1300">
                <a:solidFill>
                  <a:srgbClr val="D6453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 sz="1100">
                <a:solidFill>
                  <a:srgbClr val="22262F"/>
                </a:solidFill>
              </a:rPr>
              <a:t>Written in seconds, exploitable from day 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57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Put the checks inside the loop</a:t>
            </a:r>
          </a:p>
        </p:txBody>
      </p:sp>
      <p:sp>
        <p:nvSpPr>
          <p:cNvPr id="60" name="Shape 4"/>
          <p:cNvSpPr/>
          <p:nvPr/>
        </p:nvSpPr>
        <p:spPr>
          <a:xfrm>
            <a:off x="502919" y="1691639"/>
            <a:ext cx="5404105" cy="2011681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5"/>
          <p:cNvSpPr/>
          <p:nvPr/>
        </p:nvSpPr>
        <p:spPr>
          <a:xfrm>
            <a:off x="868680" y="2057400"/>
            <a:ext cx="640081" cy="640081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1502" y="2230222"/>
            <a:ext cx="294438" cy="294438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6"/>
          <p:cNvSpPr txBox="1"/>
          <p:nvPr/>
        </p:nvSpPr>
        <p:spPr>
          <a:xfrm>
            <a:off x="1737360" y="2261891"/>
            <a:ext cx="406908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Guide the generation</a:t>
            </a:r>
          </a:p>
        </p:txBody>
      </p:sp>
      <p:sp>
        <p:nvSpPr>
          <p:cNvPr id="64" name="Text 7"/>
          <p:cNvSpPr txBox="1"/>
          <p:nvPr/>
        </p:nvSpPr>
        <p:spPr>
          <a:xfrm>
            <a:off x="886967" y="2926079"/>
            <a:ext cx="4663442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Enrich every prompt with security constraints, so code is born secure instead of patched later.</a:t>
            </a:r>
          </a:p>
        </p:txBody>
      </p:sp>
      <p:sp>
        <p:nvSpPr>
          <p:cNvPr id="65" name="Shape 8"/>
          <p:cNvSpPr/>
          <p:nvPr/>
        </p:nvSpPr>
        <p:spPr>
          <a:xfrm>
            <a:off x="6281928" y="1691639"/>
            <a:ext cx="5404105" cy="2011681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9"/>
          <p:cNvSpPr/>
          <p:nvPr/>
        </p:nvSpPr>
        <p:spPr>
          <a:xfrm>
            <a:off x="6647688" y="2057400"/>
            <a:ext cx="640081" cy="640081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0"/>
          <p:cNvSpPr txBox="1"/>
          <p:nvPr/>
        </p:nvSpPr>
        <p:spPr>
          <a:xfrm>
            <a:off x="7516368" y="2261891"/>
            <a:ext cx="40690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Close the feedback loop</a:t>
            </a:r>
          </a:p>
        </p:txBody>
      </p:sp>
      <p:sp>
        <p:nvSpPr>
          <p:cNvPr id="68" name="Text 11"/>
          <p:cNvSpPr txBox="1"/>
          <p:nvPr/>
        </p:nvSpPr>
        <p:spPr>
          <a:xfrm>
            <a:off x="6665976" y="2926079"/>
            <a:ext cx="466344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Agents can correct their own mistakes, when analyzer findings flow straight back into their context.</a:t>
            </a:r>
          </a:p>
        </p:txBody>
      </p:sp>
      <p:sp>
        <p:nvSpPr>
          <p:cNvPr id="69" name="Shape 12"/>
          <p:cNvSpPr/>
          <p:nvPr/>
        </p:nvSpPr>
        <p:spPr>
          <a:xfrm>
            <a:off x="502919" y="3931920"/>
            <a:ext cx="5404105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13"/>
          <p:cNvSpPr/>
          <p:nvPr/>
        </p:nvSpPr>
        <p:spPr>
          <a:xfrm>
            <a:off x="868680" y="4297679"/>
            <a:ext cx="640081" cy="640081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1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1502" y="4470501"/>
            <a:ext cx="294438" cy="294438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ext 14"/>
          <p:cNvSpPr txBox="1"/>
          <p:nvPr/>
        </p:nvSpPr>
        <p:spPr>
          <a:xfrm>
            <a:off x="1737360" y="4502172"/>
            <a:ext cx="406908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channel to the analyzers</a:t>
            </a:r>
          </a:p>
        </p:txBody>
      </p:sp>
      <p:sp>
        <p:nvSpPr>
          <p:cNvPr id="73" name="Text 15"/>
          <p:cNvSpPr txBox="1"/>
          <p:nvPr/>
        </p:nvSpPr>
        <p:spPr>
          <a:xfrm>
            <a:off x="886967" y="5166359"/>
            <a:ext cx="4663442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Classical, deterministic analysis and agentic reasoning talk through a single, unified interface.</a:t>
            </a:r>
          </a:p>
        </p:txBody>
      </p:sp>
      <p:sp>
        <p:nvSpPr>
          <p:cNvPr id="74" name="Shape 16"/>
          <p:cNvSpPr/>
          <p:nvPr/>
        </p:nvSpPr>
        <p:spPr>
          <a:xfrm>
            <a:off x="6281928" y="3931920"/>
            <a:ext cx="5404105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5" name="Shape 17"/>
          <p:cNvSpPr/>
          <p:nvPr/>
        </p:nvSpPr>
        <p:spPr>
          <a:xfrm>
            <a:off x="6647688" y="4297679"/>
            <a:ext cx="640081" cy="640081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8"/>
          <p:cNvSpPr txBox="1"/>
          <p:nvPr/>
        </p:nvSpPr>
        <p:spPr>
          <a:xfrm>
            <a:off x="7516368" y="4502172"/>
            <a:ext cx="406908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Verify until clean</a:t>
            </a:r>
          </a:p>
        </p:txBody>
      </p:sp>
      <p:sp>
        <p:nvSpPr>
          <p:cNvPr id="77" name="Text 19"/>
          <p:cNvSpPr txBox="1"/>
          <p:nvPr/>
        </p:nvSpPr>
        <p:spPr>
          <a:xfrm>
            <a:off x="6665976" y="5166359"/>
            <a:ext cx="466344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Fix and re-check iteratively, with clear stopping rules; security is proven, not assumed.</a:t>
            </a:r>
          </a:p>
        </p:txBody>
      </p:sp>
      <p:pic>
        <p:nvPicPr>
          <p:cNvPr id="78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56531" y="2261408"/>
            <a:ext cx="222394" cy="232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shield-orange.png" descr="shield-orang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39335" y="4484755"/>
            <a:ext cx="256787" cy="2567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"/>
          <p:cNvSpPr/>
          <p:nvPr/>
        </p:nvSpPr>
        <p:spPr>
          <a:xfrm>
            <a:off x="6720840" y="4261103"/>
            <a:ext cx="4937760" cy="731521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" name="Shape 8"/>
          <p:cNvSpPr/>
          <p:nvPr/>
        </p:nvSpPr>
        <p:spPr>
          <a:xfrm>
            <a:off x="6720840" y="3368641"/>
            <a:ext cx="4937760" cy="731521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DIVISION OF LABOR</a:t>
            </a:r>
          </a:p>
        </p:txBody>
      </p:sp>
      <p:sp>
        <p:nvSpPr>
          <p:cNvPr id="86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runs the loop, the server runs the checks</a:t>
            </a:r>
          </a:p>
        </p:txBody>
      </p:sp>
      <p:sp>
        <p:nvSpPr>
          <p:cNvPr id="87" name="Text 4"/>
          <p:cNvSpPr txBox="1"/>
          <p:nvPr/>
        </p:nvSpPr>
        <p:spPr>
          <a:xfrm>
            <a:off x="502919" y="1547228"/>
            <a:ext cx="1115568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handles generation, triage and fixes; the plugin's MCP server delivers fast, deterministic security analysis.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502919" y="2126787"/>
            <a:ext cx="493776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PIPELINE ROLE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6720840" y="2126787"/>
            <a:ext cx="49377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IMPLEMENTED BY</a:t>
            </a:r>
          </a:p>
        </p:txBody>
      </p:sp>
      <p:sp>
        <p:nvSpPr>
          <p:cNvPr id="90" name="Shape 7"/>
          <p:cNvSpPr/>
          <p:nvPr/>
        </p:nvSpPr>
        <p:spPr>
          <a:xfrm>
            <a:off x="502919" y="2468879"/>
            <a:ext cx="4937761" cy="731521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" name="Shape 8"/>
          <p:cNvSpPr/>
          <p:nvPr/>
        </p:nvSpPr>
        <p:spPr>
          <a:xfrm>
            <a:off x="6720840" y="2468879"/>
            <a:ext cx="4937760" cy="731521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Text 9"/>
          <p:cNvSpPr txBox="1"/>
          <p:nvPr/>
        </p:nvSpPr>
        <p:spPr>
          <a:xfrm>
            <a:off x="822960" y="2745739"/>
            <a:ext cx="4389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Generate → analyze → fix loop</a:t>
            </a:r>
          </a:p>
        </p:txBody>
      </p:sp>
      <p:sp>
        <p:nvSpPr>
          <p:cNvPr id="93" name="Text 10"/>
          <p:cNvSpPr txBox="1"/>
          <p:nvPr/>
        </p:nvSpPr>
        <p:spPr>
          <a:xfrm>
            <a:off x="7040880" y="2742090"/>
            <a:ext cx="4389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FA6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Code's agentic loop</a:t>
            </a:r>
          </a:p>
        </p:txBody>
      </p:sp>
      <p:sp>
        <p:nvSpPr>
          <p:cNvPr id="94" name="Text 11"/>
          <p:cNvSpPr txBox="1"/>
          <p:nvPr/>
        </p:nvSpPr>
        <p:spPr>
          <a:xfrm>
            <a:off x="5486400" y="2692744"/>
            <a:ext cx="118872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5" name="Shape 12"/>
          <p:cNvSpPr/>
          <p:nvPr/>
        </p:nvSpPr>
        <p:spPr>
          <a:xfrm>
            <a:off x="502919" y="3364991"/>
            <a:ext cx="4937761" cy="731521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" name="Text 14"/>
          <p:cNvSpPr txBox="1"/>
          <p:nvPr/>
        </p:nvSpPr>
        <p:spPr>
          <a:xfrm>
            <a:off x="822960" y="3641851"/>
            <a:ext cx="4389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Security constraint injection</a:t>
            </a:r>
          </a:p>
        </p:txBody>
      </p:sp>
      <p:sp>
        <p:nvSpPr>
          <p:cNvPr id="97" name="Text 15"/>
          <p:cNvSpPr txBox="1"/>
          <p:nvPr/>
        </p:nvSpPr>
        <p:spPr>
          <a:xfrm>
            <a:off x="7040880" y="3638202"/>
            <a:ext cx="4389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FA6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secure-codegen skill + MCP enricher</a:t>
            </a:r>
          </a:p>
        </p:txBody>
      </p:sp>
      <p:sp>
        <p:nvSpPr>
          <p:cNvPr id="98" name="Text 16"/>
          <p:cNvSpPr txBox="1"/>
          <p:nvPr/>
        </p:nvSpPr>
        <p:spPr>
          <a:xfrm>
            <a:off x="5486400" y="3588856"/>
            <a:ext cx="118872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9" name="Shape 17"/>
          <p:cNvSpPr/>
          <p:nvPr/>
        </p:nvSpPr>
        <p:spPr>
          <a:xfrm>
            <a:off x="502919" y="4261103"/>
            <a:ext cx="4937761" cy="731521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 19"/>
          <p:cNvSpPr txBox="1"/>
          <p:nvPr/>
        </p:nvSpPr>
        <p:spPr>
          <a:xfrm>
            <a:off x="822960" y="4537963"/>
            <a:ext cx="4389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Guardians: CodeQL, semgrep, bandit</a:t>
            </a:r>
          </a:p>
        </p:txBody>
      </p:sp>
      <p:sp>
        <p:nvSpPr>
          <p:cNvPr id="101" name="Text 20"/>
          <p:cNvSpPr txBox="1"/>
          <p:nvPr/>
        </p:nvSpPr>
        <p:spPr>
          <a:xfrm>
            <a:off x="7040880" y="4534314"/>
            <a:ext cx="4389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FA6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Zero-dependency MCP server</a:t>
            </a:r>
          </a:p>
        </p:txBody>
      </p:sp>
      <p:sp>
        <p:nvSpPr>
          <p:cNvPr id="102" name="Text 21"/>
          <p:cNvSpPr txBox="1"/>
          <p:nvPr/>
        </p:nvSpPr>
        <p:spPr>
          <a:xfrm>
            <a:off x="5486400" y="4484968"/>
            <a:ext cx="118872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3" name="Shape 22"/>
          <p:cNvSpPr/>
          <p:nvPr/>
        </p:nvSpPr>
        <p:spPr>
          <a:xfrm>
            <a:off x="502919" y="5157215"/>
            <a:ext cx="4937761" cy="731521"/>
          </a:xfrm>
          <a:prstGeom prst="roundRect">
            <a:avLst>
              <a:gd name="adj" fmla="val 125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Shape 23"/>
          <p:cNvSpPr/>
          <p:nvPr/>
        </p:nvSpPr>
        <p:spPr>
          <a:xfrm>
            <a:off x="6720840" y="5157215"/>
            <a:ext cx="4937760" cy="731521"/>
          </a:xfrm>
          <a:prstGeom prst="roundRect">
            <a:avLst>
              <a:gd name="adj" fmla="val 12500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" name="Text 24"/>
          <p:cNvSpPr txBox="1"/>
          <p:nvPr/>
        </p:nvSpPr>
        <p:spPr>
          <a:xfrm>
            <a:off x="822960" y="5434075"/>
            <a:ext cx="4389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Triage &amp; retry decisions</a:t>
            </a:r>
          </a:p>
        </p:txBody>
      </p:sp>
      <p:sp>
        <p:nvSpPr>
          <p:cNvPr id="106" name="Text 25"/>
          <p:cNvSpPr txBox="1"/>
          <p:nvPr/>
        </p:nvSpPr>
        <p:spPr>
          <a:xfrm>
            <a:off x="7040880" y="5430426"/>
            <a:ext cx="4389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FA68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in-context; the server keeps score</a:t>
            </a:r>
          </a:p>
        </p:txBody>
      </p:sp>
      <p:sp>
        <p:nvSpPr>
          <p:cNvPr id="107" name="Text 26"/>
          <p:cNvSpPr txBox="1"/>
          <p:nvPr/>
        </p:nvSpPr>
        <p:spPr>
          <a:xfrm>
            <a:off x="5486400" y="5381080"/>
            <a:ext cx="118872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C05F3F"/>
                </a:solidFill>
                <a:latin typeface="Arial"/>
              </a:rPr>
              <a:t>HOW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22262F"/>
                </a:solidFill>
                <a:latin typeface="Arial"/>
              </a:rPr>
              <a:t>The workflow,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4"/>
                </a:solidFill>
                <a:latin typeface="Arial"/>
              </a:rPr>
              <a:t>You only touch the first and last step. Everything between runs on its own.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66544"/>
            <a:ext cx="457200" cy="457200"/>
          </a:xfrm>
          <a:prstGeom prst="ellipse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FA68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You ask for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4086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Give Claude a normal task, like “add a login endpoint.” Nothing special on your side.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C05F3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61488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The prompt is hardened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9067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The secure-codegen skill adds security constraints to your task before any code is written.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FA68C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11296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Claude writes the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40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The same generation as always, now guided by those constraints.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C05F3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61104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Every save is scanned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02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A hook runs fast analyzers (semgrep, bandit, syntax) after each write and feeds findings back to Claude.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65776"/>
            <a:ext cx="457200" cy="457200"/>
          </a:xfrm>
          <a:prstGeom prst="ellipse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FA68C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10912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A fix agent takes 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34009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If findings exist, the remediator agent patches them and re-scans, tracking one session so it knows what changed.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815584"/>
            <a:ext cx="457200" cy="457200"/>
          </a:xfrm>
          <a:prstGeom prst="ellipse">
            <a:avLst/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C05F3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760720"/>
            <a:ext cx="10424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2F"/>
                </a:solidFill>
                <a:latin typeface="Arial"/>
              </a:rPr>
              <a:t>It stops when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484"/>
                </a:solidFill>
                <a:latin typeface="Arial"/>
              </a:rPr>
              <a:t>The loop repeats until the analyzers pass, then returns clean code. If it stalls, it hands the rest back to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8AFBB"/>
                </a:solidFill>
                <a:latin typeface="Arial"/>
              </a:rPr>
              <a:t>SecureCoder · Claude Code plugin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918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8AFB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C05F3F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22262F"/>
                </a:solidFill>
                <a:latin typeface="Arial"/>
              </a:rPr>
              <a:t>How the pieces fit together</a:t>
            </a:r>
          </a:p>
        </p:txBody>
      </p:sp>
      <p:pic>
        <p:nvPicPr>
          <p:cNvPr id="4" name="Picture 3" descr="arch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10" y="1481328"/>
            <a:ext cx="9326880" cy="4866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922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8AFBB"/>
                </a:solidFill>
                <a:latin typeface="Arial"/>
              </a:rPr>
              <a:t>SecureCoder · Claude Code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9180" y="649224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A8AFB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UNDER THE HOOD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speeds of analysis</a:t>
            </a:r>
          </a:p>
        </p:txBody>
      </p:sp>
      <p:sp>
        <p:nvSpPr>
          <p:cNvPr id="139" name="Shape 4"/>
          <p:cNvSpPr/>
          <p:nvPr/>
        </p:nvSpPr>
        <p:spPr>
          <a:xfrm>
            <a:off x="502919" y="1783079"/>
            <a:ext cx="5486401" cy="2743201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Shape 5"/>
          <p:cNvSpPr/>
          <p:nvPr/>
        </p:nvSpPr>
        <p:spPr>
          <a:xfrm>
            <a:off x="868680" y="2148839"/>
            <a:ext cx="658369" cy="658369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6439" y="2326599"/>
            <a:ext cx="302850" cy="30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 6"/>
          <p:cNvSpPr txBox="1"/>
          <p:nvPr/>
        </p:nvSpPr>
        <p:spPr>
          <a:xfrm>
            <a:off x="1783079" y="2339269"/>
            <a:ext cx="402336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Fast lane · seconds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896111" y="3136852"/>
            <a:ext cx="47548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Runs after every file write.</a:t>
            </a:r>
          </a:p>
        </p:txBody>
      </p:sp>
      <p:sp>
        <p:nvSpPr>
          <p:cNvPr id="144" name="Text 8"/>
          <p:cNvSpPr txBox="1"/>
          <p:nvPr/>
        </p:nvSpPr>
        <p:spPr>
          <a:xfrm>
            <a:off x="896111" y="3591560"/>
            <a:ext cx="48463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05F3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syntax check   ·   semgrep   ·   bandit</a:t>
            </a:r>
          </a:p>
        </p:txBody>
      </p:sp>
      <p:sp>
        <p:nvSpPr>
          <p:cNvPr id="145" name="Shape 9"/>
          <p:cNvSpPr/>
          <p:nvPr/>
        </p:nvSpPr>
        <p:spPr>
          <a:xfrm>
            <a:off x="6263640" y="1783079"/>
            <a:ext cx="5486401" cy="2743201"/>
          </a:xfrm>
          <a:prstGeom prst="roundRect">
            <a:avLst>
              <a:gd name="adj" fmla="val 3333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Shape 10"/>
          <p:cNvSpPr/>
          <p:nvPr/>
        </p:nvSpPr>
        <p:spPr>
          <a:xfrm>
            <a:off x="6629400" y="2148839"/>
            <a:ext cx="658369" cy="658369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07158" y="2326599"/>
            <a:ext cx="302850" cy="302850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 11"/>
          <p:cNvSpPr txBox="1"/>
          <p:nvPr/>
        </p:nvSpPr>
        <p:spPr>
          <a:xfrm>
            <a:off x="7543800" y="2339269"/>
            <a:ext cx="402336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 lane · on demand</a:t>
            </a:r>
          </a:p>
        </p:txBody>
      </p:sp>
      <p:sp>
        <p:nvSpPr>
          <p:cNvPr id="149" name="Text 12"/>
          <p:cNvSpPr txBox="1"/>
          <p:nvPr/>
        </p:nvSpPr>
        <p:spPr>
          <a:xfrm>
            <a:off x="6656831" y="3136852"/>
            <a:ext cx="47548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Used for the first pass and the final check.</a:t>
            </a:r>
          </a:p>
        </p:txBody>
      </p:sp>
      <p:sp>
        <p:nvSpPr>
          <p:cNvPr id="150" name="Text 13"/>
          <p:cNvSpPr txBox="1"/>
          <p:nvPr/>
        </p:nvSpPr>
        <p:spPr>
          <a:xfrm>
            <a:off x="6656831" y="3591560"/>
            <a:ext cx="4846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FA6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CodeQL · security-extended suites</a:t>
            </a:r>
          </a:p>
        </p:txBody>
      </p:sp>
      <p:sp>
        <p:nvSpPr>
          <p:cNvPr id="151" name="Shape 14"/>
          <p:cNvSpPr/>
          <p:nvPr/>
        </p:nvSpPr>
        <p:spPr>
          <a:xfrm>
            <a:off x="502919" y="4892040"/>
            <a:ext cx="11247121" cy="1051561"/>
          </a:xfrm>
          <a:prstGeom prst="roundRect">
            <a:avLst>
              <a:gd name="adj" fmla="val 8696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Shape 15"/>
          <p:cNvSpPr/>
          <p:nvPr/>
        </p:nvSpPr>
        <p:spPr>
          <a:xfrm>
            <a:off x="868680" y="5138928"/>
            <a:ext cx="548641" cy="548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6813" y="5287061"/>
            <a:ext cx="252375" cy="252375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16"/>
          <p:cNvSpPr txBox="1"/>
          <p:nvPr/>
        </p:nvSpPr>
        <p:spPr>
          <a:xfrm>
            <a:off x="1600199" y="5325270"/>
            <a:ext cx="987552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server tracks each session:  </a:t>
            </a:r>
            <a:r>
              <a:rPr b="0">
                <a:solidFill>
                  <a:srgbClr val="6B7484"/>
                </a:solidFill>
              </a:rPr>
              <a:t>which findings were fixed, which are new, which persist, and when to stop retrying.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ACTION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Claude sees</a:t>
            </a:r>
          </a:p>
        </p:txBody>
      </p:sp>
      <p:sp>
        <p:nvSpPr>
          <p:cNvPr id="160" name="Shape 4"/>
          <p:cNvSpPr/>
          <p:nvPr/>
        </p:nvSpPr>
        <p:spPr>
          <a:xfrm>
            <a:off x="502919" y="1783079"/>
            <a:ext cx="5486401" cy="3108961"/>
          </a:xfrm>
          <a:prstGeom prst="roundRect">
            <a:avLst>
              <a:gd name="adj" fmla="val 2941"/>
            </a:avLst>
          </a:prstGeom>
          <a:solidFill>
            <a:srgbClr val="161B24"/>
          </a:solidFill>
          <a:ln w="12700">
            <a:solidFill>
              <a:srgbClr val="161B24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Shape 5"/>
          <p:cNvSpPr/>
          <p:nvPr/>
        </p:nvSpPr>
        <p:spPr>
          <a:xfrm>
            <a:off x="777240" y="2057400"/>
            <a:ext cx="91441" cy="91441"/>
          </a:xfrm>
          <a:prstGeom prst="ellipse">
            <a:avLst/>
          </a:prstGeom>
          <a:solidFill>
            <a:srgbClr val="F07B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6"/>
          <p:cNvSpPr/>
          <p:nvPr/>
        </p:nvSpPr>
        <p:spPr>
          <a:xfrm>
            <a:off x="978408" y="2057400"/>
            <a:ext cx="91441" cy="91441"/>
          </a:xfrm>
          <a:prstGeom prst="ellipse">
            <a:avLst/>
          </a:prstGeom>
          <a:solidFill>
            <a:srgbClr val="E0B34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7"/>
          <p:cNvSpPr/>
          <p:nvPr/>
        </p:nvSpPr>
        <p:spPr>
          <a:xfrm>
            <a:off x="1179575" y="2057400"/>
            <a:ext cx="91441" cy="91441"/>
          </a:xfrm>
          <a:prstGeom prst="ellipse">
            <a:avLst/>
          </a:prstGeom>
          <a:solidFill>
            <a:srgbClr val="56D0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8"/>
          <p:cNvSpPr txBox="1"/>
          <p:nvPr/>
        </p:nvSpPr>
        <p:spPr>
          <a:xfrm>
            <a:off x="1463039" y="2019554"/>
            <a:ext cx="3657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hook output</a:t>
            </a:r>
          </a:p>
        </p:txBody>
      </p:sp>
      <p:sp>
        <p:nvSpPr>
          <p:cNvPr id="165" name="Text 9"/>
          <p:cNvSpPr txBox="1"/>
          <p:nvPr/>
        </p:nvSpPr>
        <p:spPr>
          <a:xfrm>
            <a:off x="822959" y="2377439"/>
            <a:ext cx="4937762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[securecoder] 2 findings</a:t>
            </a:r>
          </a:p>
          <a:p>
            <a:pPr>
              <a:lnSpc>
                <a:spcPct val="130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30000"/>
              </a:lnSpc>
              <a:defRPr b="1" sz="1100">
                <a:solidFill>
                  <a:srgbClr val="F07B6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HIGH  CWE-89  SQL injection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use parameterized queries</a:t>
            </a:r>
          </a:p>
          <a:p>
            <a:pPr>
              <a:lnSpc>
                <a:spcPct val="130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30000"/>
              </a:lnSpc>
              <a:defRPr b="1" sz="1100">
                <a:solidFill>
                  <a:srgbClr val="E0B3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MED   CWE-798 hardcoded secret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→ move to a secret manager</a:t>
            </a:r>
          </a:p>
        </p:txBody>
      </p:sp>
      <p:sp>
        <p:nvSpPr>
          <p:cNvPr id="166" name="Shape 10"/>
          <p:cNvSpPr/>
          <p:nvPr/>
        </p:nvSpPr>
        <p:spPr>
          <a:xfrm>
            <a:off x="6263640" y="1783079"/>
            <a:ext cx="5486401" cy="3108961"/>
          </a:xfrm>
          <a:prstGeom prst="roundRect">
            <a:avLst>
              <a:gd name="adj" fmla="val 2941"/>
            </a:avLst>
          </a:prstGeom>
          <a:solidFill>
            <a:srgbClr val="161B24"/>
          </a:solidFill>
          <a:ln w="12700">
            <a:solidFill>
              <a:srgbClr val="161B24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Shape 11"/>
          <p:cNvSpPr/>
          <p:nvPr/>
        </p:nvSpPr>
        <p:spPr>
          <a:xfrm>
            <a:off x="6537959" y="2057400"/>
            <a:ext cx="91441" cy="91441"/>
          </a:xfrm>
          <a:prstGeom prst="ellipse">
            <a:avLst/>
          </a:prstGeom>
          <a:solidFill>
            <a:srgbClr val="F07B6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12"/>
          <p:cNvSpPr/>
          <p:nvPr/>
        </p:nvSpPr>
        <p:spPr>
          <a:xfrm>
            <a:off x="6739128" y="2057400"/>
            <a:ext cx="91441" cy="91441"/>
          </a:xfrm>
          <a:prstGeom prst="ellipse">
            <a:avLst/>
          </a:prstGeom>
          <a:solidFill>
            <a:srgbClr val="E0B34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13"/>
          <p:cNvSpPr/>
          <p:nvPr/>
        </p:nvSpPr>
        <p:spPr>
          <a:xfrm>
            <a:off x="6940295" y="2057400"/>
            <a:ext cx="91441" cy="91441"/>
          </a:xfrm>
          <a:prstGeom prst="ellipse">
            <a:avLst/>
          </a:prstGeom>
          <a:solidFill>
            <a:srgbClr val="56D0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4"/>
          <p:cNvSpPr txBox="1"/>
          <p:nvPr/>
        </p:nvSpPr>
        <p:spPr>
          <a:xfrm>
            <a:off x="7223759" y="2019554"/>
            <a:ext cx="3657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7A0B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remediation report</a:t>
            </a:r>
          </a:p>
        </p:txBody>
      </p:sp>
      <p:sp>
        <p:nvSpPr>
          <p:cNvPr id="171" name="Text 15"/>
          <p:cNvSpPr txBox="1"/>
          <p:nvPr/>
        </p:nvSpPr>
        <p:spPr>
          <a:xfrm>
            <a:off x="6583680" y="2377439"/>
            <a:ext cx="4846321" cy="1258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attempt     2 / 7</a:t>
            </a:r>
          </a:p>
          <a:p>
            <a:pPr>
              <a:lnSpc>
                <a:spcPct val="130000"/>
              </a:lnSpc>
              <a:defRPr b="1"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resolved    2</a:t>
            </a:r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persisting  0</a:t>
            </a:r>
          </a:p>
          <a:p>
            <a:pPr>
              <a:lnSpc>
                <a:spcPct val="130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30000"/>
              </a:lnSpc>
              <a:defRPr sz="11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deep pass   CodeQL ✔</a:t>
            </a:r>
          </a:p>
          <a:p>
            <a:pPr>
              <a:lnSpc>
                <a:spcPct val="130000"/>
              </a:lnSpc>
              <a:defRPr sz="700">
                <a:solidFill>
                  <a:srgbClr val="ECEAE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endParaRPr sz="1100"/>
          </a:p>
          <a:p>
            <a:pPr>
              <a:lnSpc>
                <a:spcPct val="130000"/>
              </a:lnSpc>
              <a:defRPr b="1" sz="1100">
                <a:solidFill>
                  <a:srgbClr val="56D0B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verdict     CLEAN ✔</a:t>
            </a:r>
          </a:p>
        </p:txBody>
      </p:sp>
      <p:sp>
        <p:nvSpPr>
          <p:cNvPr id="172" name="Shape 16"/>
          <p:cNvSpPr/>
          <p:nvPr/>
        </p:nvSpPr>
        <p:spPr>
          <a:xfrm>
            <a:off x="502919" y="5212079"/>
            <a:ext cx="11247121" cy="822961"/>
          </a:xfrm>
          <a:prstGeom prst="roundRect">
            <a:avLst>
              <a:gd name="adj" fmla="val 11111"/>
            </a:avLst>
          </a:prstGeom>
          <a:solidFill>
            <a:srgbClr val="EDF7F4"/>
          </a:solidFill>
          <a:ln w="12700">
            <a:solidFill>
              <a:srgbClr val="CFE8E1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Shape 17"/>
          <p:cNvSpPr/>
          <p:nvPr/>
        </p:nvSpPr>
        <p:spPr>
          <a:xfrm>
            <a:off x="868680" y="5349240"/>
            <a:ext cx="548641" cy="548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6813" y="5497372"/>
            <a:ext cx="252375" cy="252375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18"/>
          <p:cNvSpPr txBox="1"/>
          <p:nvPr/>
        </p:nvSpPr>
        <p:spPr>
          <a:xfrm>
            <a:off x="1600199" y="5524868"/>
            <a:ext cx="987552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of this happens on its own during a normal coding session.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502919" y="6556756"/>
            <a:ext cx="4114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SecureCoder · Claude Code plugin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11228831" y="6556756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8AFB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9" name="Text 2"/>
          <p:cNvSpPr txBox="1"/>
          <p:nvPr/>
        </p:nvSpPr>
        <p:spPr>
          <a:xfrm>
            <a:off x="502919" y="511301"/>
            <a:ext cx="111556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C05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FEATURES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502919" y="870547"/>
            <a:ext cx="11155682" cy="444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Built for real-world repos</a:t>
            </a:r>
          </a:p>
        </p:txBody>
      </p:sp>
      <p:sp>
        <p:nvSpPr>
          <p:cNvPr id="181" name="Shape 4"/>
          <p:cNvSpPr/>
          <p:nvPr/>
        </p:nvSpPr>
        <p:spPr>
          <a:xfrm>
            <a:off x="502919" y="1691639"/>
            <a:ext cx="5404105" cy="2011681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" name="Shape 5"/>
          <p:cNvSpPr/>
          <p:nvPr/>
        </p:nvSpPr>
        <p:spPr>
          <a:xfrm>
            <a:off x="868680" y="2057400"/>
            <a:ext cx="640081" cy="640081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1502" y="2230222"/>
            <a:ext cx="294438" cy="294438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6"/>
          <p:cNvSpPr txBox="1"/>
          <p:nvPr/>
        </p:nvSpPr>
        <p:spPr>
          <a:xfrm>
            <a:off x="1737360" y="2261891"/>
            <a:ext cx="406908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Feedback, not noise</a:t>
            </a:r>
          </a:p>
        </p:txBody>
      </p:sp>
      <p:sp>
        <p:nvSpPr>
          <p:cNvPr id="185" name="Text 7"/>
          <p:cNvSpPr txBox="1"/>
          <p:nvPr/>
        </p:nvSpPr>
        <p:spPr>
          <a:xfrm>
            <a:off x="886967" y="2926079"/>
            <a:ext cx="4663442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Per-rule remediation guidance with code snippets, deduplicated before it reaches Claude.</a:t>
            </a:r>
          </a:p>
        </p:txBody>
      </p:sp>
      <p:sp>
        <p:nvSpPr>
          <p:cNvPr id="186" name="Shape 8"/>
          <p:cNvSpPr/>
          <p:nvPr/>
        </p:nvSpPr>
        <p:spPr>
          <a:xfrm>
            <a:off x="6281928" y="1691639"/>
            <a:ext cx="5404105" cy="2011681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Shape 9"/>
          <p:cNvSpPr/>
          <p:nvPr/>
        </p:nvSpPr>
        <p:spPr>
          <a:xfrm>
            <a:off x="6647688" y="2057400"/>
            <a:ext cx="640081" cy="640081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10"/>
          <p:cNvSpPr txBox="1"/>
          <p:nvPr/>
        </p:nvSpPr>
        <p:spPr>
          <a:xfrm>
            <a:off x="7516368" y="2261891"/>
            <a:ext cx="40690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Knows when to stop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6665976" y="2926079"/>
            <a:ext cx="466344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Tracks resolved, new and persisting findings per session; soft and hard limits end unproductive fix loops.</a:t>
            </a:r>
          </a:p>
        </p:txBody>
      </p:sp>
      <p:sp>
        <p:nvSpPr>
          <p:cNvPr id="190" name="Shape 12"/>
          <p:cNvSpPr/>
          <p:nvPr/>
        </p:nvSpPr>
        <p:spPr>
          <a:xfrm>
            <a:off x="502919" y="3931920"/>
            <a:ext cx="5404105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Shape 13"/>
          <p:cNvSpPr/>
          <p:nvPr/>
        </p:nvSpPr>
        <p:spPr>
          <a:xfrm>
            <a:off x="868680" y="4297679"/>
            <a:ext cx="640081" cy="640081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2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1502" y="4470501"/>
            <a:ext cx="294438" cy="294438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14"/>
          <p:cNvSpPr txBox="1"/>
          <p:nvPr/>
        </p:nvSpPr>
        <p:spPr>
          <a:xfrm>
            <a:off x="1737360" y="4502172"/>
            <a:ext cx="406908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Configurable per repo</a:t>
            </a:r>
          </a:p>
        </p:txBody>
      </p:sp>
      <p:sp>
        <p:nvSpPr>
          <p:cNvPr id="194" name="Text 15"/>
          <p:cNvSpPr txBox="1"/>
          <p:nvPr/>
        </p:nvSpPr>
        <p:spPr>
          <a:xfrm>
            <a:off x="886967" y="5166359"/>
            <a:ext cx="4663442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.securecoder.json controls analyzers, custom CodeQL query packs, exclude patterns and retry limits.</a:t>
            </a:r>
          </a:p>
        </p:txBody>
      </p:sp>
      <p:sp>
        <p:nvSpPr>
          <p:cNvPr id="195" name="Shape 16"/>
          <p:cNvSpPr/>
          <p:nvPr/>
        </p:nvSpPr>
        <p:spPr>
          <a:xfrm>
            <a:off x="6281928" y="3931920"/>
            <a:ext cx="5404105" cy="2011680"/>
          </a:xfrm>
          <a:prstGeom prst="roundRect">
            <a:avLst>
              <a:gd name="adj" fmla="val 4545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>
            <a:outerShdw sx="100000" sy="100000" kx="0" ky="0" algn="b" rotWithShape="0" blurRad="88900" dist="25400" dir="5400000">
              <a:srgbClr val="9AA3B2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Shape 17"/>
          <p:cNvSpPr/>
          <p:nvPr/>
        </p:nvSpPr>
        <p:spPr>
          <a:xfrm>
            <a:off x="6647688" y="4297679"/>
            <a:ext cx="640081" cy="640081"/>
          </a:xfrm>
          <a:prstGeom prst="ellipse">
            <a:avLst/>
          </a:prstGeom>
          <a:solidFill>
            <a:srgbClr val="FBF1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7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20510" y="4470501"/>
            <a:ext cx="294438" cy="294438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 18"/>
          <p:cNvSpPr txBox="1"/>
          <p:nvPr/>
        </p:nvSpPr>
        <p:spPr>
          <a:xfrm>
            <a:off x="7516368" y="4502172"/>
            <a:ext cx="406908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Degrades gracefully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6665976" y="5166359"/>
            <a:ext cx="466344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Analyzers are picked up from PATH; anything missing is skipped and never breaks the workflow.</a:t>
            </a:r>
          </a:p>
        </p:txBody>
      </p:sp>
      <p:sp>
        <p:nvSpPr>
          <p:cNvPr id="200" name="Stopwatch"/>
          <p:cNvSpPr/>
          <p:nvPr/>
        </p:nvSpPr>
        <p:spPr>
          <a:xfrm>
            <a:off x="6843265" y="2233396"/>
            <a:ext cx="248926" cy="2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083" y="0"/>
                </a:moveTo>
                <a:cubicBezTo>
                  <a:pt x="8677" y="0"/>
                  <a:pt x="8349" y="285"/>
                  <a:pt x="8349" y="636"/>
                </a:cubicBezTo>
                <a:cubicBezTo>
                  <a:pt x="8349" y="987"/>
                  <a:pt x="8677" y="1271"/>
                  <a:pt x="9083" y="1271"/>
                </a:cubicBezTo>
                <a:lnTo>
                  <a:pt x="10064" y="1271"/>
                </a:lnTo>
                <a:lnTo>
                  <a:pt x="10064" y="2960"/>
                </a:lnTo>
                <a:cubicBezTo>
                  <a:pt x="4451" y="3288"/>
                  <a:pt x="0" y="7336"/>
                  <a:pt x="0" y="12268"/>
                </a:cubicBezTo>
                <a:cubicBezTo>
                  <a:pt x="0" y="17414"/>
                  <a:pt x="4845" y="21600"/>
                  <a:pt x="10800" y="21600"/>
                </a:cubicBezTo>
                <a:cubicBezTo>
                  <a:pt x="16755" y="21600"/>
                  <a:pt x="21600" y="17414"/>
                  <a:pt x="21600" y="12268"/>
                </a:cubicBezTo>
                <a:cubicBezTo>
                  <a:pt x="21600" y="9530"/>
                  <a:pt x="20228" y="7065"/>
                  <a:pt x="18048" y="5356"/>
                </a:cubicBezTo>
                <a:cubicBezTo>
                  <a:pt x="18095" y="5326"/>
                  <a:pt x="18139" y="5288"/>
                  <a:pt x="18173" y="5243"/>
                </a:cubicBezTo>
                <a:lnTo>
                  <a:pt x="18534" y="4762"/>
                </a:lnTo>
                <a:cubicBezTo>
                  <a:pt x="18681" y="4567"/>
                  <a:pt x="18616" y="4303"/>
                  <a:pt x="18389" y="4177"/>
                </a:cubicBezTo>
                <a:lnTo>
                  <a:pt x="16675" y="3215"/>
                </a:lnTo>
                <a:cubicBezTo>
                  <a:pt x="16448" y="3088"/>
                  <a:pt x="16144" y="3144"/>
                  <a:pt x="15997" y="3340"/>
                </a:cubicBezTo>
                <a:lnTo>
                  <a:pt x="15636" y="3822"/>
                </a:lnTo>
                <a:cubicBezTo>
                  <a:pt x="15615" y="3849"/>
                  <a:pt x="15599" y="3878"/>
                  <a:pt x="15587" y="3907"/>
                </a:cubicBezTo>
                <a:cubicBezTo>
                  <a:pt x="14351" y="3376"/>
                  <a:pt x="12983" y="3045"/>
                  <a:pt x="11536" y="2960"/>
                </a:cubicBezTo>
                <a:lnTo>
                  <a:pt x="11536" y="1271"/>
                </a:lnTo>
                <a:lnTo>
                  <a:pt x="12517" y="1271"/>
                </a:lnTo>
                <a:cubicBezTo>
                  <a:pt x="12923" y="1271"/>
                  <a:pt x="13251" y="987"/>
                  <a:pt x="13251" y="636"/>
                </a:cubicBezTo>
                <a:cubicBezTo>
                  <a:pt x="13251" y="285"/>
                  <a:pt x="12923" y="0"/>
                  <a:pt x="12517" y="0"/>
                </a:cubicBezTo>
                <a:lnTo>
                  <a:pt x="9083" y="0"/>
                </a:lnTo>
                <a:close/>
                <a:moveTo>
                  <a:pt x="10800" y="4207"/>
                </a:moveTo>
                <a:cubicBezTo>
                  <a:pt x="15944" y="4207"/>
                  <a:pt x="20129" y="7823"/>
                  <a:pt x="20129" y="12268"/>
                </a:cubicBezTo>
                <a:cubicBezTo>
                  <a:pt x="20129" y="16713"/>
                  <a:pt x="15944" y="20329"/>
                  <a:pt x="10800" y="20329"/>
                </a:cubicBezTo>
                <a:cubicBezTo>
                  <a:pt x="5656" y="20329"/>
                  <a:pt x="1471" y="16713"/>
                  <a:pt x="1471" y="12268"/>
                </a:cubicBezTo>
                <a:cubicBezTo>
                  <a:pt x="1471" y="7823"/>
                  <a:pt x="5656" y="4207"/>
                  <a:pt x="10800" y="4207"/>
                </a:cubicBezTo>
                <a:close/>
                <a:moveTo>
                  <a:pt x="10800" y="6222"/>
                </a:moveTo>
                <a:cubicBezTo>
                  <a:pt x="10394" y="6222"/>
                  <a:pt x="10064" y="6505"/>
                  <a:pt x="10064" y="6856"/>
                </a:cubicBezTo>
                <a:lnTo>
                  <a:pt x="10064" y="12268"/>
                </a:lnTo>
                <a:cubicBezTo>
                  <a:pt x="10064" y="12619"/>
                  <a:pt x="10394" y="12904"/>
                  <a:pt x="10800" y="12904"/>
                </a:cubicBezTo>
                <a:cubicBezTo>
                  <a:pt x="11206" y="12904"/>
                  <a:pt x="11536" y="12619"/>
                  <a:pt x="11536" y="12268"/>
                </a:cubicBezTo>
                <a:lnTo>
                  <a:pt x="11536" y="6856"/>
                </a:lnTo>
                <a:cubicBezTo>
                  <a:pt x="11536" y="6505"/>
                  <a:pt x="11206" y="6222"/>
                  <a:pt x="10800" y="6222"/>
                </a:cubicBezTo>
                <a:close/>
              </a:path>
            </a:pathLst>
          </a:custGeom>
          <a:solidFill>
            <a:srgbClr val="4DAC7B"/>
          </a:solidFill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57A697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685800" y="1600200"/>
            <a:ext cx="777241" cy="777241"/>
          </a:xfrm>
          <a:prstGeom prst="ellipse">
            <a:avLst/>
          </a:prstGeom>
          <a:solidFill>
            <a:srgbClr val="EDF7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5655" y="1810055"/>
            <a:ext cx="357531" cy="357531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Text 1"/>
          <p:cNvSpPr txBox="1"/>
          <p:nvPr/>
        </p:nvSpPr>
        <p:spPr>
          <a:xfrm>
            <a:off x="640080" y="2606039"/>
            <a:ext cx="10881360" cy="125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4400">
                <a:solidFill>
                  <a:srgbClr val="22262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Security as a </a:t>
            </a:r>
            <a:r>
              <a:rPr>
                <a:solidFill>
                  <a:srgbClr val="C05F3F"/>
                </a:solidFill>
              </a:rPr>
              <a:t>first-class constraint</a:t>
            </a:r>
            <a:r>
              <a:t> of the agent loop.</a:t>
            </a:r>
          </a:p>
        </p:txBody>
      </p:sp>
      <p:sp>
        <p:nvSpPr>
          <p:cNvPr id="205" name="Text 2"/>
          <p:cNvSpPr txBox="1"/>
          <p:nvPr/>
        </p:nvSpPr>
        <p:spPr>
          <a:xfrm>
            <a:off x="685800" y="4297679"/>
            <a:ext cx="1051560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Checked before generation, after every write, and until the analyzers come back clean.</a:t>
            </a:r>
          </a:p>
        </p:txBody>
      </p:sp>
      <p:pic>
        <p:nvPicPr>
          <p:cNvPr id="20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5800" y="534924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 3"/>
          <p:cNvSpPr txBox="1"/>
          <p:nvPr/>
        </p:nvSpPr>
        <p:spPr>
          <a:xfrm>
            <a:off x="1069847" y="5410200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Node ≥ 18 · zero npm dependencies</a:t>
            </a:r>
          </a:p>
        </p:txBody>
      </p:sp>
      <p:pic>
        <p:nvPicPr>
          <p:cNvPr id="208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17720" y="534924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4"/>
          <p:cNvSpPr txBox="1"/>
          <p:nvPr/>
        </p:nvSpPr>
        <p:spPr>
          <a:xfrm>
            <a:off x="5001767" y="5410200"/>
            <a:ext cx="3383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/plugin install securecoder</a:t>
            </a:r>
          </a:p>
        </p:txBody>
      </p:sp>
      <p:pic>
        <p:nvPicPr>
          <p:cNvPr id="210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49640" y="5349240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5"/>
          <p:cNvSpPr txBox="1"/>
          <p:nvPr/>
        </p:nvSpPr>
        <p:spPr>
          <a:xfrm>
            <a:off x="8933688" y="5410200"/>
            <a:ext cx="33832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2262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skill · hook · mcp server · agent</a:t>
            </a:r>
          </a:p>
        </p:txBody>
      </p:sp>
      <p:sp>
        <p:nvSpPr>
          <p:cNvPr id="212" name="Text 6"/>
          <p:cNvSpPr txBox="1"/>
          <p:nvPr/>
        </p:nvSpPr>
        <p:spPr>
          <a:xfrm>
            <a:off x="685800" y="6281165"/>
            <a:ext cx="100584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 · SecureCoder plugin for Claude Code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C05F3F"/>
                </a:solidFill>
                <a:latin typeface="Arial"/>
              </a:rPr>
              <a:t>THE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22262F"/>
                </a:solidFill>
                <a:latin typeface="Arial"/>
              </a:rPr>
              <a:t>Four building blocks,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4"/>
                </a:solidFill>
                <a:latin typeface="Arial"/>
              </a:rPr>
              <a:t>These are standard parts of agentic coding tools, not unique to us. Here is what each one means.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066543"/>
            <a:ext cx="658368" cy="658368"/>
          </a:xfrm>
          <a:prstGeom prst="ellipse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-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5" y="2250887"/>
            <a:ext cx="289681" cy="289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215798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2262F"/>
                </a:solidFill>
                <a:latin typeface="Arial"/>
              </a:rPr>
              <a:t>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34639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484"/>
                </a:solidFill>
                <a:latin typeface="Arial"/>
              </a:rPr>
              <a:t>A file of detailed instructions for carrying out a particular kind of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0273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A68C"/>
                </a:solidFill>
                <a:latin typeface="Arial"/>
              </a:rPr>
              <a:t>In this plugin:  </a:t>
            </a:r>
            <a:r>
              <a:rPr sz="1150" b="0">
                <a:solidFill>
                  <a:srgbClr val="22262F"/>
                </a:solidFill>
                <a:latin typeface="Arial"/>
              </a:rPr>
              <a:t>the rules applied before any code is 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37360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38544" y="2066543"/>
            <a:ext cx="658368" cy="658368"/>
          </a:xfrm>
          <a:prstGeom prst="ellipse">
            <a:avLst/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-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887" y="2250887"/>
            <a:ext cx="289681" cy="289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25512" y="215798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2262F"/>
                </a:solidFill>
                <a:latin typeface="Arial"/>
              </a:rPr>
              <a:t>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39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484"/>
                </a:solidFill>
                <a:latin typeface="Arial"/>
              </a:rPr>
              <a:t>A shell command that fires automatically at a set point in the run. Hard, programmatic certainty for when instructions are too loose.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0273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C05F3F"/>
                </a:solidFill>
                <a:latin typeface="Arial"/>
              </a:rPr>
              <a:t>In this plugin:  </a:t>
            </a:r>
            <a:r>
              <a:rPr sz="1150" b="0">
                <a:solidFill>
                  <a:srgbClr val="22262F"/>
                </a:solidFill>
                <a:latin typeface="Arial"/>
              </a:rPr>
              <a:t>scans each file the moment it is saved.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4489704"/>
            <a:ext cx="658368" cy="658368"/>
          </a:xfrm>
          <a:prstGeom prst="ellipse">
            <a:avLst/>
          </a:prstGeom>
          <a:solidFill>
            <a:srgbClr val="ED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-m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35" y="4674047"/>
            <a:ext cx="289681" cy="2896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37360" y="458114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2262F"/>
                </a:solidFill>
                <a:latin typeface="Arial"/>
              </a:rP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25780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484"/>
                </a:solidFill>
                <a:latin typeface="Arial"/>
              </a:rPr>
              <a:t>A standard interface that lets AI models talk to external tools and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602589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FA68C"/>
                </a:solidFill>
                <a:latin typeface="Arial"/>
              </a:rPr>
              <a:t>In this plugin:  </a:t>
            </a:r>
            <a:r>
              <a:rPr sz="1150" b="0">
                <a:solidFill>
                  <a:srgbClr val="22262F"/>
                </a:solidFill>
                <a:latin typeface="Arial"/>
              </a:rPr>
              <a:t>runs the scanners: semgrep, bandit, CodeQL.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4160520"/>
            <a:ext cx="5394960" cy="22402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38544" y="4489704"/>
            <a:ext cx="658368" cy="658368"/>
          </a:xfrm>
          <a:prstGeom prst="ellipse">
            <a:avLst/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887" y="4674047"/>
            <a:ext cx="289681" cy="28968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25512" y="458114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2262F"/>
                </a:solidFill>
                <a:latin typeface="Arial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484"/>
                </a:solidFill>
                <a:latin typeface="Arial"/>
              </a:rPr>
              <a:t>A self-contained AI worker with its own context and tools, aimed at one goal.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602589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C05F3F"/>
                </a:solidFill>
                <a:latin typeface="Arial"/>
              </a:rPr>
              <a:t>In this plugin:  </a:t>
            </a:r>
            <a:r>
              <a:rPr sz="1150" b="0">
                <a:solidFill>
                  <a:srgbClr val="22262F"/>
                </a:solidFill>
                <a:latin typeface="Arial"/>
              </a:rPr>
              <a:t>repairs findings and re-checks until clean.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8AFBB"/>
                </a:solidFill>
                <a:latin typeface="Arial"/>
              </a:rPr>
              <a:t>SecureCoder · Claude Code plugin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1918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8AFB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