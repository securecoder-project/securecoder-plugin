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5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ATHENE MISSION PROJECT  ·  TU DARMSTADT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SecureCoder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85800" y="30175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Security-aware code generation — </a:t>
            </a:r>
            <a:pPr indent="0" marL="0">
              <a:buNone/>
            </a:pPr>
            <a:r>
              <a:rPr lang="en-US" sz="20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research to the agent loop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3977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Anthropic · Claude Code team — July 2026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52360" y="1828800"/>
            <a:ext cx="4114800" cy="3108960"/>
          </a:xfrm>
          <a:prstGeom prst="roundRect">
            <a:avLst>
              <a:gd name="adj" fmla="val 2647"/>
            </a:avLst>
          </a:prstGeom>
          <a:solidFill>
            <a:srgbClr val="141922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26680" y="2103120"/>
            <a:ext cx="100584" cy="100584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8" name="Shape 6"/>
          <p:cNvSpPr/>
          <p:nvPr/>
        </p:nvSpPr>
        <p:spPr>
          <a:xfrm>
            <a:off x="7927848" y="2103120"/>
            <a:ext cx="100584" cy="100584"/>
          </a:xfrm>
          <a:prstGeom prst="ellipse">
            <a:avLst/>
          </a:prstGeom>
          <a:solidFill>
            <a:srgbClr val="E0B341"/>
          </a:solidFill>
          <a:ln/>
        </p:spPr>
      </p:sp>
      <p:sp>
        <p:nvSpPr>
          <p:cNvPr id="9" name="Shape 7"/>
          <p:cNvSpPr/>
          <p:nvPr/>
        </p:nvSpPr>
        <p:spPr>
          <a:xfrm>
            <a:off x="8129016" y="2103120"/>
            <a:ext cx="100584" cy="100584"/>
          </a:xfrm>
          <a:prstGeom prst="ellipse">
            <a:avLst/>
          </a:prstGeom>
          <a:solidFill>
            <a:srgbClr val="45C4A8"/>
          </a:solidFill>
          <a:ln/>
        </p:spPr>
      </p:sp>
      <p:sp>
        <p:nvSpPr>
          <p:cNvPr id="10" name="Text 8"/>
          <p:cNvSpPr/>
          <p:nvPr/>
        </p:nvSpPr>
        <p:spPr>
          <a:xfrm>
            <a:off x="7726680" y="237744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7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--plugin-dir ./securecoder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5C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✔ skill   secure-codegen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5C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✔ hook    PostToolUse → run-sast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5C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✔ mcp     securecoder-analysis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5C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✔ agent   securecoder-remediator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securecoder v0.1.0 ready.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6263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securecoder-project.github.io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SecureCoder · TU Darmstadt · ATHENE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writes the code. Who writes the security?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2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3337560" y="148132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AI-generated programs in security-relevant scenarios contained exploitable vulnerabilities.</a:t>
            </a:r>
            <a:pPr indent="0" marL="0">
              <a:buNone/>
            </a:pPr>
            <a:r>
              <a:rPr lang="en-US" sz="1100" i="1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Pearce et al., IEEE S&amp;P 2022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5943600" cy="1005840"/>
          </a:xfrm>
          <a:prstGeom prst="roundRect">
            <a:avLst>
              <a:gd name="adj" fmla="val 8182"/>
            </a:avLst>
          </a:prstGeom>
          <a:solidFill>
            <a:srgbClr val="1A202C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044952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287121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bugs, machine speed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325880" y="3163824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injection, path traversal, hardcoded secrets — the classic CWE classes recur across models, languages and prompts.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2920" y="3913632"/>
            <a:ext cx="5943600" cy="1005840"/>
          </a:xfrm>
          <a:prstGeom prst="roundRect">
            <a:avLst>
              <a:gd name="adj" fmla="val 8182"/>
            </a:avLst>
          </a:prstGeom>
          <a:solidFill>
            <a:srgbClr val="1A202C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215384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40416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amplify the risk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325880" y="43342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loops write, edit and execute code faster than any human review cycle can keep up with.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2920" y="5084064"/>
            <a:ext cx="5943600" cy="1005840"/>
          </a:xfrm>
          <a:prstGeom prst="roundRect">
            <a:avLst>
              <a:gd name="adj" fmla="val 8182"/>
            </a:avLst>
          </a:prstGeom>
          <a:solidFill>
            <a:srgbClr val="1A202C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8581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2120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Post-hoc review is too late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325880" y="550468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must enter the loop itself: before generation, after every write, and during remediation.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858000" y="1371600"/>
            <a:ext cx="4800600" cy="3246120"/>
          </a:xfrm>
          <a:prstGeom prst="roundRect">
            <a:avLst>
              <a:gd name="adj" fmla="val 2535"/>
            </a:avLst>
          </a:prstGeom>
          <a:solidFill>
            <a:srgbClr val="141922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114032" y="1627632"/>
            <a:ext cx="100584" cy="100584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22" name="Shape 17"/>
          <p:cNvSpPr/>
          <p:nvPr/>
        </p:nvSpPr>
        <p:spPr>
          <a:xfrm>
            <a:off x="7315200" y="1627632"/>
            <a:ext cx="100584" cy="100584"/>
          </a:xfrm>
          <a:prstGeom prst="ellipse">
            <a:avLst/>
          </a:prstGeom>
          <a:solidFill>
            <a:srgbClr val="E0B341"/>
          </a:solidFill>
          <a:ln/>
        </p:spPr>
      </p:sp>
      <p:sp>
        <p:nvSpPr>
          <p:cNvPr id="23" name="Shape 18"/>
          <p:cNvSpPr/>
          <p:nvPr/>
        </p:nvSpPr>
        <p:spPr>
          <a:xfrm>
            <a:off x="7516368" y="1627632"/>
            <a:ext cx="100584" cy="100584"/>
          </a:xfrm>
          <a:prstGeom prst="ellipse">
            <a:avLst/>
          </a:prstGeom>
          <a:solidFill>
            <a:srgbClr val="45C4A8"/>
          </a:solidFill>
          <a:ln/>
        </p:spPr>
      </p:sp>
      <p:sp>
        <p:nvSpPr>
          <p:cNvPr id="24" name="Text 19"/>
          <p:cNvSpPr/>
          <p:nvPr/>
        </p:nvSpPr>
        <p:spPr>
          <a:xfrm>
            <a:off x="7818120" y="1554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user_service.py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7178040" y="1965960"/>
            <a:ext cx="4297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@app.route("/user")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get_user():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uid = request.args["id"]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57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= f"SELECT * FROM users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57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WHERE id={uid}"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db.execute(q).fetchall()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858000" y="4800600"/>
            <a:ext cx="4800600" cy="1234440"/>
          </a:xfrm>
          <a:prstGeom prst="roundRect">
            <a:avLst>
              <a:gd name="adj" fmla="val 6667"/>
            </a:avLst>
          </a:prstGeom>
          <a:solidFill>
            <a:srgbClr val="3A2320"/>
          </a:solidFill>
          <a:ln w="9525">
            <a:solidFill>
              <a:srgbClr val="5A342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032" y="507492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635240" y="4983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CWE-89 · SQL injection  </a:t>
            </a:r>
            <a:pPr indent="0" marL="0">
              <a:buNone/>
            </a:pPr>
            <a:r>
              <a:rPr lang="en-US" sz="10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635240" y="525780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Tainted request input flows into a query string. Shipped in seconds — exploited just as fast.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SecureCoder · TU Darmstadt · ATHENE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INITIATIVE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this problem, end to end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SecureCoder is an ATHENE mission project at TU Darmstadt — three research groups covering programming languages, NLP and machine learning, working on secure code generation end-to-end.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1A202C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74520" y="2286000"/>
            <a:ext cx="822960" cy="822960"/>
          </a:xfrm>
          <a:prstGeom prst="ellipse">
            <a:avLst/>
          </a:prstGeom>
          <a:solidFill>
            <a:srgbClr val="232B3A"/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Mira Mezini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Technology Group · Principal Investigator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91363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 languages, software engineering, AI-assisted development with a focus on code correctness and security.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25112" y="196596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1A202C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96712" y="2286000"/>
            <a:ext cx="822960" cy="822960"/>
          </a:xfrm>
          <a:prstGeom prst="ellipse">
            <a:avLst/>
          </a:prstGeom>
          <a:solidFill>
            <a:srgbClr val="232B3A"/>
          </a:solidFill>
          <a:ln w="19050">
            <a:solidFill>
              <a:srgbClr val="45C4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96712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5C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53712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Iryna Gurevych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53712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C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UKP Lab · Principal Investigator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99432" y="391363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processing and large language model research for understanding and generating text and code.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47304" y="196596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1A202C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18904" y="2286000"/>
            <a:ext cx="822960" cy="822960"/>
          </a:xfrm>
          <a:prstGeom prst="ellipse">
            <a:avLst/>
          </a:prstGeom>
          <a:solidFill>
            <a:srgbClr val="232B3A"/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18904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75904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Kristian Kersting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75904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Group · Principal Investigator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21624" y="391363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learning, statistical relational AI and deep learning for structured prediction and reasoning.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5166360"/>
            <a:ext cx="11183112" cy="868680"/>
          </a:xfrm>
          <a:prstGeom prst="roundRect">
            <a:avLst>
              <a:gd name="adj" fmla="val 9474"/>
            </a:avLst>
          </a:prstGeom>
          <a:solidFill>
            <a:srgbClr val="232B3A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394960"/>
            <a:ext cx="411480" cy="41148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417320" y="51663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postdoctoral + 4 doctoral researchers  </a:t>
            </a:r>
            <a:pPr indent="0" marL="0">
              <a:buNone/>
            </a:pPr>
            <a:r>
              <a:rPr lang="en-US" sz="130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STG, UKP and ML — spanning symbolic execution, benchmarking, constraint decoding and developer tooling.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SecureCoder · TU Darmstadt · ATHENE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pillars, one pipeline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404104" cy="2194560"/>
          </a:xfrm>
          <a:prstGeom prst="roundRect">
            <a:avLst>
              <a:gd name="adj" fmla="val 3750"/>
            </a:avLst>
          </a:prstGeom>
          <a:solidFill>
            <a:srgbClr val="1A202C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5528" y="1664208"/>
            <a:ext cx="566928" cy="566928"/>
          </a:xfrm>
          <a:prstGeom prst="ellipse">
            <a:avLst/>
          </a:prstGeom>
          <a:solidFill>
            <a:srgbClr val="232B3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7190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Creation &amp; Curation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239572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pipelines to collect, annotate and curate real-world vulnerable code across CWE classes — standardized, reproducible datasets for rigorous cross-model comparison.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22960" y="321868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C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CWE annotation · SecurityEvalDataset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281928" y="1371600"/>
            <a:ext cx="5404104" cy="2194560"/>
          </a:xfrm>
          <a:prstGeom prst="roundRect">
            <a:avLst>
              <a:gd name="adj" fmla="val 3750"/>
            </a:avLst>
          </a:prstGeom>
          <a:solidFill>
            <a:srgbClr val="1A202C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74536" y="1664208"/>
            <a:ext cx="566928" cy="566928"/>
          </a:xfrm>
          <a:prstGeom prst="ellipse">
            <a:avLst/>
          </a:prstGeom>
          <a:solidFill>
            <a:srgbClr val="232B3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1783080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33488" y="17190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Training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601968" y="239572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awareness embedded at training time: fine-tuning with symbolic-execution feedback, GNN-augmented pre-training over code graphs, obfuscation grounding for robustness.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601968" y="321868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Symbolic execution · GNN pre-training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02920" y="3767328"/>
            <a:ext cx="5404104" cy="2194560"/>
          </a:xfrm>
          <a:prstGeom prst="roundRect">
            <a:avLst>
              <a:gd name="adj" fmla="val 3750"/>
            </a:avLst>
          </a:prstGeom>
          <a:solidFill>
            <a:srgbClr val="1A202C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95528" y="4059936"/>
            <a:ext cx="566928" cy="566928"/>
          </a:xfrm>
          <a:prstGeom prst="ellipse">
            <a:avLst/>
          </a:prstGeom>
          <a:solidFill>
            <a:srgbClr val="232B3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7880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54480" y="4114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Decoding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22960" y="4791456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constraints inside the decoding process: a discriminator critiques generated code in real time and steers the generator away from vulnerability patterns.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822960" y="561441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Discriminator models · Formal verification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281928" y="3767328"/>
            <a:ext cx="5404104" cy="2194560"/>
          </a:xfrm>
          <a:prstGeom prst="roundRect">
            <a:avLst>
              <a:gd name="adj" fmla="val 3750"/>
            </a:avLst>
          </a:prstGeom>
          <a:solidFill>
            <a:srgbClr val="1A202C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574536" y="4059936"/>
            <a:ext cx="566928" cy="566928"/>
          </a:xfrm>
          <a:prstGeom prst="ellipse">
            <a:avLst/>
          </a:prstGeom>
          <a:solidFill>
            <a:srgbClr val="232B3A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4178808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33488" y="4114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&amp; Benchmarking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6601968" y="4791456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deployed as tools: a JetBrains plugin flagging vulnerabilities in real time, and a unified CLI evaluating any model on industry-standard security suites.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6601968" y="561441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C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CWEval · SecCodePLT · CyberSecEval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SecureCoder · TU Darmstadt · ATHENE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that ships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404104" cy="3063240"/>
          </a:xfrm>
          <a:prstGeom prst="roundRect">
            <a:avLst>
              <a:gd name="adj" fmla="val 2687"/>
            </a:avLst>
          </a:prstGeom>
          <a:solidFill>
            <a:srgbClr val="1A202C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232B3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288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1783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JetBrains IDE Plugin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50392" y="251460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awareness inside the development environment: analyzes suggestions in real time, highlights vulnerabilities, proposes secure alternatives — driven by the Kotlin guardian engine.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50392" y="3886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on JetBrains Marketplace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81928" y="1371600"/>
            <a:ext cx="5404104" cy="3063240"/>
          </a:xfrm>
          <a:prstGeom prst="roundRect">
            <a:avLst>
              <a:gd name="adj" fmla="val 2687"/>
            </a:avLst>
          </a:prstGeom>
          <a:solidFill>
            <a:srgbClr val="1A202C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01968" y="1691640"/>
            <a:ext cx="640080" cy="640080"/>
          </a:xfrm>
          <a:prstGeom prst="ellipse">
            <a:avLst/>
          </a:prstGeom>
          <a:solidFill>
            <a:srgbClr val="232B3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18288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24928" y="1783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CLI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6629400" y="251460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 line to evaluate the security posture of any code-generation model — OpenRouter-hosted or local agent — against CWEval, SecCodePLT and CyberSecEval in a single tool.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629400" y="3886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C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source · unified across suites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02920" y="480060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33251E"/>
          </a:solidFill>
          <a:ln w="9525">
            <a:solidFill>
              <a:srgbClr val="5A433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193792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4800600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now, a third frontend.  </a:t>
            </a:r>
            <a:pPr indent="0" marL="0">
              <a:buNone/>
            </a:pPr>
            <a:r>
              <a:rPr lang="en-US" sz="135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pipeline, packaged as a native Claude Code plugin — skill, hooks, agents and MCP server in one install.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SecureCoder · TU Darmstadt · ATHENE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CLAUDE 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already is our workflow engine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Kotlin engine implements a generate → analyze → fix loop around an LLM. Claude Code ships that loop natively — so the plugin ports only what Claude can't do, and delegates the rest to the harness.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SECURECODER ENGINE (KOTLIN)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72084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CLAUDE CODE PLUGIN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4937760" cy="658368"/>
          </a:xfrm>
          <a:prstGeom prst="roundRect">
            <a:avLst>
              <a:gd name="adj" fmla="val 12500"/>
            </a:avLst>
          </a:prstGeom>
          <a:solidFill>
            <a:srgbClr val="1A202C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20840" y="2148840"/>
            <a:ext cx="4937760" cy="658368"/>
          </a:xfrm>
          <a:prstGeom prst="roundRect">
            <a:avLst>
              <a:gd name="adj" fmla="val 12500"/>
            </a:avLst>
          </a:prstGeom>
          <a:solidFill>
            <a:srgbClr val="16302B"/>
          </a:solidFill>
          <a:ln w="9525">
            <a:solidFill>
              <a:srgbClr val="2E5A4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14884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WorkflowEngine — generate → analyze → fix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95160" y="214884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C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Code's agentic loop itself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214884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2920" y="2935224"/>
            <a:ext cx="4937760" cy="658368"/>
          </a:xfrm>
          <a:prstGeom prst="roundRect">
            <a:avLst>
              <a:gd name="adj" fmla="val 12500"/>
            </a:avLst>
          </a:prstGeom>
          <a:solidFill>
            <a:srgbClr val="1A202C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720840" y="2935224"/>
            <a:ext cx="4937760" cy="658368"/>
          </a:xfrm>
          <a:prstGeom prst="roundRect">
            <a:avLst>
              <a:gd name="adj" fmla="val 12500"/>
            </a:avLst>
          </a:prstGeom>
          <a:solidFill>
            <a:srgbClr val="1A202C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293522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HeuristicPromptEnricher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95160" y="293522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secure-codegen skill + enrich_prompt MCP tool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0" y="293522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2920" y="3721608"/>
            <a:ext cx="4937760" cy="658368"/>
          </a:xfrm>
          <a:prstGeom prst="roundRect">
            <a:avLst>
              <a:gd name="adj" fmla="val 12500"/>
            </a:avLst>
          </a:prstGeom>
          <a:solidFill>
            <a:srgbClr val="1A202C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3721608"/>
            <a:ext cx="4937760" cy="658368"/>
          </a:xfrm>
          <a:prstGeom prst="roundRect">
            <a:avLst>
              <a:gd name="adj" fmla="val 12500"/>
            </a:avLst>
          </a:prstGeom>
          <a:solidFill>
            <a:srgbClr val="1A202C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3721608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Guardians — CodeQL, semgrep, bandit, syntax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95160" y="3721608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Zero-dependency Node MCP server (ported)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372160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02920" y="4507992"/>
            <a:ext cx="4937760" cy="658368"/>
          </a:xfrm>
          <a:prstGeom prst="roundRect">
            <a:avLst>
              <a:gd name="adj" fmla="val 12500"/>
            </a:avLst>
          </a:prstGeom>
          <a:solidFill>
            <a:srgbClr val="1A202C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20840" y="4507992"/>
            <a:ext cx="4937760" cy="658368"/>
          </a:xfrm>
          <a:prstGeom prst="roundRect">
            <a:avLst>
              <a:gd name="adj" fmla="val 12500"/>
            </a:avLst>
          </a:prstGeom>
          <a:solidFill>
            <a:srgbClr val="1A202C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4507992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GuardianRetryPolicy + RetryDecider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95160" y="4507992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tracks sessions &amp; limits — Claude decides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450799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02920" y="5294376"/>
            <a:ext cx="4937760" cy="658368"/>
          </a:xfrm>
          <a:prstGeom prst="roundRect">
            <a:avLst>
              <a:gd name="adj" fmla="val 12500"/>
            </a:avLst>
          </a:prstGeom>
          <a:solidFill>
            <a:srgbClr val="1A202C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20840" y="5294376"/>
            <a:ext cx="4937760" cy="658368"/>
          </a:xfrm>
          <a:prstGeom prst="roundRect">
            <a:avLst>
              <a:gd name="adj" fmla="val 12500"/>
            </a:avLst>
          </a:prstGeom>
          <a:solidFill>
            <a:srgbClr val="16302B"/>
          </a:solidFill>
          <a:ln w="9525">
            <a:solidFill>
              <a:srgbClr val="2E5A4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77240" y="5294376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LlmViolationTriage / SelfTestLoop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95160" y="5294376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C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triages findings in-context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529437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02920" y="601675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classical analysis lives in an MCP server. The agentic intelligence is Claude.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SecureCoder · TU Darmstadt · ATHENE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PLUGIN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install, three lines of defense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566160" cy="3200400"/>
          </a:xfrm>
          <a:prstGeom prst="roundRect">
            <a:avLst>
              <a:gd name="adj" fmla="val 2571"/>
            </a:avLst>
          </a:prstGeom>
          <a:solidFill>
            <a:srgbClr val="1A202C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5528" y="1709928"/>
            <a:ext cx="603504" cy="603504"/>
          </a:xfrm>
          <a:prstGeom prst="ellipse">
            <a:avLst/>
          </a:prstGeom>
          <a:solidFill>
            <a:srgbClr val="232B3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4708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5146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5C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BEFORE GENERATION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secure-codegen skill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32461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Auto-invoked on any coding task. Injects contract-preserving security constraints via MCP, an inline threat model, and a mandatory self-review checklist.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069080" y="274320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4489704" y="1417320"/>
            <a:ext cx="3566160" cy="3200400"/>
          </a:xfrm>
          <a:prstGeom prst="roundRect">
            <a:avLst>
              <a:gd name="adj" fmla="val 2571"/>
            </a:avLst>
          </a:prstGeom>
          <a:solidFill>
            <a:srgbClr val="1A202C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82312" y="1709928"/>
            <a:ext cx="603504" cy="603504"/>
          </a:xfrm>
          <a:prstGeom prst="ellipse">
            <a:avLst/>
          </a:prstGeom>
          <a:solidFill>
            <a:srgbClr val="232B3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84708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09744" y="25146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AFTER EVERY WRITE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809744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PostToolUse hook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809744" y="32461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 automatically on Write / Edit. Fast guardians — syntax hard-reject, semgrep, bandit — run in seconds and inject findings straight into Claude's context.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8055864" y="274320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6"/>
          <p:cNvSpPr/>
          <p:nvPr/>
        </p:nvSpPr>
        <p:spPr>
          <a:xfrm>
            <a:off x="8476488" y="1417320"/>
            <a:ext cx="3566160" cy="3200400"/>
          </a:xfrm>
          <a:prstGeom prst="roundRect">
            <a:avLst>
              <a:gd name="adj" fmla="val 2571"/>
            </a:avLst>
          </a:prstGeom>
          <a:solidFill>
            <a:srgbClr val="1A202C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769096" y="1709928"/>
            <a:ext cx="603504" cy="603504"/>
          </a:xfrm>
          <a:prstGeom prst="ellipse">
            <a:avLst/>
          </a:prstGeom>
          <a:solidFill>
            <a:srgbClr val="232B3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256" y="1847088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796528" y="25146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5C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UNTIL CLEAN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796528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remediator agent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8796528" y="32461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context window. Fix → re-analyze via MCP with a stable session id; the server tracks resolved, new and persisting findings against soft/hard retry limits.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502920" y="4937760"/>
            <a:ext cx="11548872" cy="1143000"/>
          </a:xfrm>
          <a:prstGeom prst="roundRect">
            <a:avLst>
              <a:gd name="adj" fmla="val 7200"/>
            </a:avLst>
          </a:prstGeom>
          <a:solidFill>
            <a:srgbClr val="232B3A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285232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54480" y="4937760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securecoder-analysis MCP server</a:t>
            </a:r>
            <a:pPr indent="0" marL="0">
              <a:buNone/>
            </a:pPr>
            <a:r>
              <a:rPr lang="en-US" sz="120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CodeQL orchestration · SARIF parsing · syntax hard-reject · per-rule remediation guidance · retry-session tracking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SecureCoder · TU Darmstadt · ATHENE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guardian engine, ported to zero-dependency Node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4846320" cy="4663440"/>
          </a:xfrm>
          <a:prstGeom prst="roundRect">
            <a:avLst>
              <a:gd name="adj" fmla="val 1765"/>
            </a:avLst>
          </a:prstGeom>
          <a:solidFill>
            <a:srgbClr val="141922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45920"/>
            <a:ext cx="100584" cy="100584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8" name="Shape 6"/>
          <p:cNvSpPr/>
          <p:nvPr/>
        </p:nvSpPr>
        <p:spPr>
          <a:xfrm>
            <a:off x="978408" y="1645920"/>
            <a:ext cx="100584" cy="100584"/>
          </a:xfrm>
          <a:prstGeom prst="ellipse">
            <a:avLst/>
          </a:prstGeom>
          <a:solidFill>
            <a:srgbClr val="E0B341"/>
          </a:solidFill>
          <a:ln/>
        </p:spPr>
      </p:sp>
      <p:sp>
        <p:nvSpPr>
          <p:cNvPr id="9" name="Shape 7"/>
          <p:cNvSpPr/>
          <p:nvPr/>
        </p:nvSpPr>
        <p:spPr>
          <a:xfrm>
            <a:off x="1179576" y="1645920"/>
            <a:ext cx="100584" cy="100584"/>
          </a:xfrm>
          <a:prstGeom prst="ellipse">
            <a:avLst/>
          </a:prstGeom>
          <a:solidFill>
            <a:srgbClr val="45C4A8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15727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tools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011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5C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securecoder_analyze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2295144"/>
            <a:ext cx="4251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Guardian pipeline on files. Fast always; deep:true adds CodeQL security-extended suites. Returns violations, guidance, retry verdicts.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29809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5C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securecoder_enrich_prompt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3264408"/>
            <a:ext cx="4251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Appends contract-preserving security constraints to a code-generation prompt.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39502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5C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securecoder_reset_session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4233672"/>
            <a:ext cx="4251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Resets a remediation session's attempt counter.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49194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5C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securecoder_status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5202936"/>
            <a:ext cx="4251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analyzer availability and the effective configuration.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23560" y="1371600"/>
            <a:ext cx="6062472" cy="1033272"/>
          </a:xfrm>
          <a:prstGeom prst="roundRect">
            <a:avLst>
              <a:gd name="adj" fmla="val 7965"/>
            </a:avLst>
          </a:prstGeom>
          <a:solidFill>
            <a:srgbClr val="1A202C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691640"/>
            <a:ext cx="384048" cy="38404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492240" y="14904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speeds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92240" y="178308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guardians in seconds on every write; deep CodeQL — query-pack fallback, crash-recovery heuristics — on demand for first and final passes.</a:t>
            </a:r>
            <a:endParaRPr lang="en-US" sz="1080" dirty="0"/>
          </a:p>
        </p:txBody>
      </p:sp>
      <p:sp>
        <p:nvSpPr>
          <p:cNvPr id="23" name="Shape 20"/>
          <p:cNvSpPr/>
          <p:nvPr/>
        </p:nvSpPr>
        <p:spPr>
          <a:xfrm>
            <a:off x="5623560" y="2569464"/>
            <a:ext cx="6062472" cy="1033272"/>
          </a:xfrm>
          <a:prstGeom prst="roundRect">
            <a:avLst>
              <a:gd name="adj" fmla="val 7965"/>
            </a:avLst>
          </a:prstGeom>
          <a:solidFill>
            <a:srgbClr val="1A202C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889504"/>
            <a:ext cx="384048" cy="38404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492240" y="26883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Feedback, not noise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6492240" y="298094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Per-rule remediation guidance with code snippets around each finding, deduplicated before it reaches the model.</a:t>
            </a:r>
            <a:endParaRPr lang="en-US" sz="1080" dirty="0"/>
          </a:p>
        </p:txBody>
      </p:sp>
      <p:sp>
        <p:nvSpPr>
          <p:cNvPr id="27" name="Shape 23"/>
          <p:cNvSpPr/>
          <p:nvPr/>
        </p:nvSpPr>
        <p:spPr>
          <a:xfrm>
            <a:off x="5623560" y="3767328"/>
            <a:ext cx="6062472" cy="1033272"/>
          </a:xfrm>
          <a:prstGeom prst="roundRect">
            <a:avLst>
              <a:gd name="adj" fmla="val 7965"/>
            </a:avLst>
          </a:prstGeom>
          <a:solidFill>
            <a:srgbClr val="1A202C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4087368"/>
            <a:ext cx="384048" cy="38404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492240" y="3886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Session-aware retries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6492240" y="417880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/ new / persisting findings per session; verdicts: continue · meta_review · hard_limit_exhausted · clean.</a:t>
            </a:r>
            <a:endParaRPr lang="en-US" sz="1080" dirty="0"/>
          </a:p>
        </p:txBody>
      </p:sp>
      <p:sp>
        <p:nvSpPr>
          <p:cNvPr id="31" name="Shape 26"/>
          <p:cNvSpPr/>
          <p:nvPr/>
        </p:nvSpPr>
        <p:spPr>
          <a:xfrm>
            <a:off x="5623560" y="4965192"/>
            <a:ext cx="6062472" cy="1033272"/>
          </a:xfrm>
          <a:prstGeom prst="roundRect">
            <a:avLst>
              <a:gd name="adj" fmla="val 7965"/>
            </a:avLst>
          </a:prstGeom>
          <a:solidFill>
            <a:srgbClr val="1A202C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5285232"/>
            <a:ext cx="384048" cy="38404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492240" y="508406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per repo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6492240" y="5376672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.securecoder.json — analyzers, semgrep config, custom CodeQL query packs, exclude patterns, soft/hard retry limits.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SecureCoder · TU Darmstadt · ATHENE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ACTION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Claude sees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3794760"/>
          </a:xfrm>
          <a:prstGeom prst="roundRect">
            <a:avLst>
              <a:gd name="adj" fmla="val 2169"/>
            </a:avLst>
          </a:prstGeom>
          <a:solidFill>
            <a:srgbClr val="141922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91640"/>
            <a:ext cx="100584" cy="100584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8" name="Shape 6"/>
          <p:cNvSpPr/>
          <p:nvPr/>
        </p:nvSpPr>
        <p:spPr>
          <a:xfrm>
            <a:off x="978408" y="1691640"/>
            <a:ext cx="100584" cy="100584"/>
          </a:xfrm>
          <a:prstGeom prst="ellipse">
            <a:avLst/>
          </a:prstGeom>
          <a:solidFill>
            <a:srgbClr val="E0B341"/>
          </a:solidFill>
          <a:ln/>
        </p:spPr>
      </p:sp>
      <p:sp>
        <p:nvSpPr>
          <p:cNvPr id="9" name="Shape 7"/>
          <p:cNvSpPr/>
          <p:nvPr/>
        </p:nvSpPr>
        <p:spPr>
          <a:xfrm>
            <a:off x="1179576" y="1691640"/>
            <a:ext cx="100584" cy="100584"/>
          </a:xfrm>
          <a:prstGeom prst="ellipse">
            <a:avLst/>
          </a:prstGeom>
          <a:solidFill>
            <a:srgbClr val="45C4A8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16184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the write — hook output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011680"/>
            <a:ext cx="4937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7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[securecoder] 2 findings in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payment_api.py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E257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 CWE-89   SQL injection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7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semgrep · line 14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→ use parameterized queries;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never interpolate input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E0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   CWE-798  hardcoded credential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7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bandit · line 3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→ move to env / secret manager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5440680" cy="3794760"/>
          </a:xfrm>
          <a:prstGeom prst="roundRect">
            <a:avLst>
              <a:gd name="adj" fmla="val 2169"/>
            </a:avLst>
          </a:prstGeom>
          <a:solidFill>
            <a:srgbClr val="141922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37960" y="1691640"/>
            <a:ext cx="100584" cy="100584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14" name="Shape 12"/>
          <p:cNvSpPr/>
          <p:nvPr/>
        </p:nvSpPr>
        <p:spPr>
          <a:xfrm>
            <a:off x="6739128" y="1691640"/>
            <a:ext cx="100584" cy="100584"/>
          </a:xfrm>
          <a:prstGeom prst="ellipse">
            <a:avLst/>
          </a:prstGeom>
          <a:solidFill>
            <a:srgbClr val="E0B341"/>
          </a:solidFill>
          <a:ln/>
        </p:spPr>
      </p:sp>
      <p:sp>
        <p:nvSpPr>
          <p:cNvPr id="15" name="Shape 13"/>
          <p:cNvSpPr/>
          <p:nvPr/>
        </p:nvSpPr>
        <p:spPr>
          <a:xfrm>
            <a:off x="6940296" y="1691640"/>
            <a:ext cx="100584" cy="100584"/>
          </a:xfrm>
          <a:prstGeom prst="ellipse">
            <a:avLst/>
          </a:prstGeom>
          <a:solidFill>
            <a:srgbClr val="45C4A8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16184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remediation — agent report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2011680"/>
            <a:ext cx="4846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REMEDIATION REPORT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7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session: remediate-payment_api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attempt        2 / 7 (soft limit)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45C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resolved       2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           0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persisting     0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pass      CodeQL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5C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security-extended ✔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45C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        CLEAN 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5486400"/>
            <a:ext cx="11201400" cy="777240"/>
          </a:xfrm>
          <a:prstGeom prst="roundRect">
            <a:avLst>
              <a:gd name="adj" fmla="val 10588"/>
            </a:avLst>
          </a:prstGeom>
          <a:solidFill>
            <a:srgbClr val="16302B"/>
          </a:solidFill>
          <a:ln w="9525">
            <a:solidFill>
              <a:srgbClr val="2E5A4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678424"/>
            <a:ext cx="384048" cy="38404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371600" y="54864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prompts, no flags, no workflow change — the pipeline rides the agent loop automatically.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SecureCoder · TU Darmstadt · ATHENE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goes next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404104" cy="2194560"/>
          </a:xfrm>
          <a:prstGeom prst="roundRect">
            <a:avLst>
              <a:gd name="adj" fmla="val 3750"/>
            </a:avLst>
          </a:prstGeom>
          <a:solidFill>
            <a:srgbClr val="1A202C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5528" y="1664208"/>
            <a:ext cx="566928" cy="566928"/>
          </a:xfrm>
          <a:prstGeom prst="ellipse">
            <a:avLst/>
          </a:prstGeom>
          <a:solidFill>
            <a:srgbClr val="232B3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645920"/>
            <a:ext cx="4224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decoding in the harness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2960" y="2450592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discriminator-guided generation from our research into agent workflows — steering away from vulnerable patterns at generation time, not after.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81928" y="1371600"/>
            <a:ext cx="5404104" cy="2194560"/>
          </a:xfrm>
          <a:prstGeom prst="roundRect">
            <a:avLst>
              <a:gd name="adj" fmla="val 3750"/>
            </a:avLst>
          </a:prstGeom>
          <a:solidFill>
            <a:srgbClr val="1A202C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74536" y="1664208"/>
            <a:ext cx="566928" cy="566928"/>
          </a:xfrm>
          <a:prstGeom prst="ellipse">
            <a:avLst/>
          </a:prstGeom>
          <a:solidFill>
            <a:srgbClr val="232B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1783080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33488" y="1645920"/>
            <a:ext cx="4224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benchmarking for frontier models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601968" y="2450592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unified CLI already evaluates any model on CWEval, SecCodePLT and CyberSecEval — a ready-made security report card for code-generating agents.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2920" y="3767328"/>
            <a:ext cx="5404104" cy="2194560"/>
          </a:xfrm>
          <a:prstGeom prst="roundRect">
            <a:avLst>
              <a:gd name="adj" fmla="val 3750"/>
            </a:avLst>
          </a:prstGeom>
          <a:solidFill>
            <a:srgbClr val="1A202C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5528" y="4059936"/>
            <a:ext cx="566928" cy="566928"/>
          </a:xfrm>
          <a:prstGeom prst="ellipse">
            <a:avLst/>
          </a:prstGeom>
          <a:solidFill>
            <a:srgbClr val="232B3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7880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4041648"/>
            <a:ext cx="4224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&amp; ecosystem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22960" y="48463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the plugin to the Claude Code marketplace; keep guardian behavior in sync across the JetBrains and Claude Code frontends from one engine.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81928" y="3767328"/>
            <a:ext cx="5404104" cy="2194560"/>
          </a:xfrm>
          <a:prstGeom prst="roundRect">
            <a:avLst>
              <a:gd name="adj" fmla="val 3750"/>
            </a:avLst>
          </a:prstGeom>
          <a:solidFill>
            <a:srgbClr val="1A202C"/>
          </a:solidFill>
          <a:ln w="9525">
            <a:solidFill>
              <a:srgbClr val="2C34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74536" y="4059936"/>
            <a:ext cx="566928" cy="566928"/>
          </a:xfrm>
          <a:prstGeom prst="ellipse">
            <a:avLst/>
          </a:prstGeom>
          <a:solidFill>
            <a:srgbClr val="232B3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4178808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33488" y="4041648"/>
            <a:ext cx="4224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security evaluation data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6601968" y="48463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Curated, CWE-annotated datasets from our data pillar — reusable for security-focused training and evaluation of code models.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5448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37744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as a </a:t>
            </a:r>
            <a:pPr indent="0" marL="0">
              <a:buNone/>
            </a:pPr>
            <a:r>
              <a:rPr lang="en-US" sz="4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first-class constraint</a:t>
            </a:r>
            <a:pPr indent="0" marL="0">
              <a:buNone/>
            </a:pPr>
            <a:r>
              <a:rPr lang="en-US" sz="44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 agent loop.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85800" y="4069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 afterthought. Not a gate at the end. In the loop — before generation, after every write, until clean.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25780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69848" y="523951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securecoder-project.github.io</a:t>
            </a:r>
            <a:endParaRPr lang="en-US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5257800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001768" y="523951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github.com/SecureCoder-Project</a:t>
            </a:r>
            <a:endParaRPr lang="en-US" sz="11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5257800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933688" y="523951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 · UKP · ML — TU Darmstadt</a:t>
            </a:r>
            <a:endParaRPr lang="en-US" sz="1150" dirty="0"/>
          </a:p>
        </p:txBody>
      </p:sp>
      <p:sp>
        <p:nvSpPr>
          <p:cNvPr id="11" name="Text 5"/>
          <p:cNvSpPr/>
          <p:nvPr/>
        </p:nvSpPr>
        <p:spPr>
          <a:xfrm>
            <a:off x="685800" y="6172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SecureCoder · ATHENE Mission Project · TU Darmstadt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2026-07-13T19:38:51Z</dcterms:created>
  <dcterms:modified xsi:type="dcterms:W3CDTF">2026-07-13T19:38:51Z</dcterms:modified>
</cp:coreProperties>
</file>